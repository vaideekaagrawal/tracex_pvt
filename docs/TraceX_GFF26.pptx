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0:15 — Good afternoon. I'm Vaideeka. This is TraceX: an AI investigation platform for anti-money-laundering, built for Union Bank of India, and one of the winning solutions from the PSB hackathon.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0:45 — Every bank here already monitors millions of transactions. That's not where it breaks; it breaks afterwards. Ninety to ninety-five percent of AML alerts are false positives, and every one still needs a human to assemble evidence by hand. Meanwhile the sophisticated money moves in the gap: structured below the threshold, split across accounts, layered through hops no row-by-row rule will connect. RBI issued fifty-four crore in penalties last year. That is not a detection failure. It's a resolution failure.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0:40 — TraceX closes the loop. It detects: six laundering typologies plus two ML models, reading the transaction graph rather than one row at a time. It prioritises, so your best investigator opens the case that matters most, not the one that arrived first. It investigates: money flow, relationships, customer profile, assembled before the analyst sits down. It explains that evidence in plain language. It recommends a decision. And then the part that compounds: every verdict goes back in as a learning signal.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0:35 — This is the whole journey, and the point is that it IS one journey. Today an investigator jumps between four systems to build one case. Here detection hands off to prioritisation, prioritisation to investigation, investigation to a written explanation, and that explanation to a report in FIU format, without re-keying anything. We designed the front line around a fifteen-to-thirty-minute triage decision. Let me show you.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2:00 — Before you hit play: 'Two minutes. One real alert, all the way to a filed report.' Say nothing over the video. When it ends, bridge with: 'What you just watched hinges on one idea.'</a:t>
            </a:r>
          </a:p>
          <a:p/>
          <a:p>
            <a:r>
              <a:t>PRE-FLIGHT: the video must be EMBEDDED in the .pptx, not linked. Keep the source .mp4 in the same folder as a fallback. Test audio on the venue machine, not your laptop.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0:30 — A rules engine asks: did this transaction cross a threshold? TraceX asks: does this behaviour, in this network, form a suspicious pattern? Same four transactions on both sides. On the left, four rows and four separate alerts. On the right, one circular flow — money leaving an account and coming back. That's the case. And note the last line: customers connected by a shared PAN or employer with NO transactions between them. No transaction monitoring system will ever surface that, because there is no transaction to monitor.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0:35 — This is what a compliance officer asks first, so let me answer before you ask. Our AI is not allowed to be creative. Every factual claim must cite a number our own code computed, and a separate validator checks that citation AFTER generation and deletes anything that doesn't resolve. We have watched that gate fire live: the model stated a figure that appeared in no cited fact, and it was rejected before a human saw it. Second, customer personal data never reaches the model at all — enforced in code, not promised in a policy. Third, everything is logged. The AI recommends. A human decides.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0:45 — SLOW DOWN HERE. This slide converts interest into a pilot.</a:t>
            </a:r>
          </a:p>
          <a:p>
            <a:r>
              <a:t>Four things your risk committee will ask. One, the DPDP Act: TraceX runs inside your perimeter as a processor; the bank keeps custody. AML processing sits under the Act's legal-obligation ground because PMLA requires it — and where erasure would collide with PMLA's five-year retention, the Act permits retention. Two, access: two roles enforced on the server, not in the interface. We tested it by calling the API directly, bypassing the UI — you get a real permission error. Three, leakage: every investigator, and the AI, sees only their own case's neighbourhood. Self-host the model and nothing leaves your data centre. Four, tamper evidence: our audit log is a cryptographic chain — edit one record and every record after it fails verification. Proven across six hundred and ninety-three thousand rows.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0:45 — 'It works in a demo' is not a business case. We ingested five point zero eight million real transactions end to end — not sampled, not simulated — with zero rows dropped and a cryptographic audit record written for every one. That's about six hundred and fifty transactions a second on ONE node. So a hundred thousand transactions a day is roughly two and a half minutes of capacity, on one machine, before we scale out. Growing is deliberately boring: a stateless API that auto-scales; SQLite for a pilot and PostgreSQL in production behind one interface, so it's a config change; and it runs on your Kubernetes or a physical server in your own data centre. With a self-hosted model it can be fully air-gapped. And to install it, you need a CSV export. Not a core-banking integration.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0:30 — Every number here is measured, not modelled. Five million real transactions through the real pipeline. Forty-four thousand suspicious accounts from one run. Seven hundred and twenty-six automated tests. Six hundred and ninety-three thousand audit records with the chain verified end to end. We can reproduce every one of these in front of you.</a:t>
            </a:r>
          </a:p>
          <a:p/>
          <a:p>
            <a:r>
              <a:t>IF CHALLENGED ON ML PRECISION: 'That's the honest number on a genuinely hard problem — under half a percent of accounts in the benchmark are actually positive. AUC-ROC of 0.778 is where the signal shows at that base rate, and it's exactly why ML is one signal in an ensemble with the typology rules and graph structure, never the sole decision-maker.'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0:35 — The commercial path is deliberately small at the start. Three weeks. Week one we run detection against your own historical exports; all we need is a CSV. Week two your compliance team calibrates it on your typologies, not ours. Week three, two real investigators work real cases and you write the evaluation. Then it deploys in your private cloud or on your own premises, and your data never leaves your custody. We're not asking anyone to rip out an existing AML system — we sit downstream of whatever you already run. That's a three-week decision, not a three-year procurement.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0:15 — Detection finds the signal. Investigation finds the story. And feedback makes the whole system smarter every time someone uses it. TraceX turns a flood of alerts into a trail no launderer can hide from. Our ask is simple: three weeks, on your own historical data. Thank you.</a:t>
            </a:r>
          </a:p>
          <a:p/>
          <a:p>
            <a:r>
              <a:t>Then STOP. Hold eye contact. Silence reads as confidence; trailing off does not.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ONLY. Pull up if asked 'walk me through how it's actually built.'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ONLY. Pull up if asked 'what exactly does it detect, and how.'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ONLY. Pull up if asked 'show me the compliance mapping.' Say the caveat line out loud rather than being caught on 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ONLY. Pull up if asked about margins, market size, or 'what's not done.' The bottom panel is deliberate: volunteering the gaps buys more credibility than defending them does.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0"/>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74320"/>
            <a:ext cx="12191695" cy="6858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408303"/>
            <a:ext cx="10948111" cy="309879"/>
          </a:xfrm>
          <a:prstGeom prst="rect">
            <a:avLst/>
          </a:prstGeom>
          <a:noFill/>
        </p:spPr>
        <p:txBody>
          <a:bodyPr wrap="square" lIns="0" tIns="0" rIns="0" bIns="0">
            <a:spAutoFit/>
          </a:bodyPr>
          <a:lstStyle/>
          <a:p>
            <a:pPr algn="l">
              <a:lnSpc>
                <a:spcPct val="100000"/>
              </a:lnSpc>
              <a:spcAft>
                <a:spcPts val="0"/>
              </a:spcAft>
            </a:pPr>
            <a:r>
              <a:rPr sz="2000" b="1" i="0">
                <a:solidFill>
                  <a:srgbClr val="C8102E"/>
                </a:solidFill>
                <a:latin typeface="Calibri"/>
              </a:rPr>
              <a:t>UNION BANK OF INDIA  ×  iDEA 2.0</a:t>
            </a:r>
            <a:endParaRPr sz="2000" b="1" i="0">
              <a:solidFill>
                <a:srgbClr val="C8102E"/>
              </a:solidFill>
              <a:latin typeface="Calibri"/>
            </a:endParaRPr>
          </a:p>
        </p:txBody>
      </p:sp>
      <p:sp>
        <p:nvSpPr>
          <p:cNvPr id="6" name="TextBox 5"/>
          <p:cNvSpPr txBox="1"/>
          <p:nvPr/>
        </p:nvSpPr>
        <p:spPr>
          <a:xfrm>
            <a:off x="621792" y="1883664"/>
            <a:ext cx="10948111" cy="1301496"/>
          </a:xfrm>
          <a:prstGeom prst="rect">
            <a:avLst/>
          </a:prstGeom>
          <a:noFill/>
        </p:spPr>
        <p:txBody>
          <a:bodyPr wrap="square" lIns="0" tIns="0" rIns="0" bIns="0">
            <a:spAutoFit/>
          </a:bodyPr>
          <a:lstStyle/>
          <a:p>
            <a:pPr algn="l">
              <a:lnSpc>
                <a:spcPct val="100000"/>
              </a:lnSpc>
              <a:spcAft>
                <a:spcPts val="0"/>
              </a:spcAft>
            </a:pPr>
            <a:r>
              <a:rPr sz="8400" b="1" i="0">
                <a:solidFill>
                  <a:srgbClr val="12365E"/>
                </a:solidFill>
                <a:latin typeface="Calibri"/>
              </a:rPr>
              <a:t>TraceX</a:t>
            </a:r>
            <a:endParaRPr sz="8400" b="1" i="0">
              <a:solidFill>
                <a:srgbClr val="12365E"/>
              </a:solidFill>
              <a:latin typeface="Calibri"/>
            </a:endParaRPr>
          </a:p>
        </p:txBody>
      </p:sp>
      <p:sp>
        <p:nvSpPr>
          <p:cNvPr id="7" name="TextBox 6"/>
          <p:cNvSpPr txBox="1"/>
          <p:nvPr/>
        </p:nvSpPr>
        <p:spPr>
          <a:xfrm>
            <a:off x="621792" y="3218688"/>
            <a:ext cx="10948111" cy="464820"/>
          </a:xfrm>
          <a:prstGeom prst="rect">
            <a:avLst/>
          </a:prstGeom>
          <a:noFill/>
        </p:spPr>
        <p:txBody>
          <a:bodyPr wrap="square" lIns="0" tIns="0" rIns="0" bIns="0">
            <a:spAutoFit/>
          </a:bodyPr>
          <a:lstStyle/>
          <a:p>
            <a:pPr algn="l">
              <a:lnSpc>
                <a:spcPct val="100000"/>
              </a:lnSpc>
              <a:spcAft>
                <a:spcPts val="0"/>
              </a:spcAft>
            </a:pPr>
            <a:r>
              <a:rPr sz="3000" b="0" i="0">
                <a:solidFill>
                  <a:srgbClr val="0D1B2A"/>
                </a:solidFill>
                <a:latin typeface="Calibri"/>
              </a:rPr>
              <a:t>From suspicious signals to defensible decisions.</a:t>
            </a:r>
            <a:endParaRPr sz="3000" b="0" i="0">
              <a:solidFill>
                <a:srgbClr val="0D1B2A"/>
              </a:solidFill>
              <a:latin typeface="Calibri"/>
            </a:endParaRPr>
          </a:p>
        </p:txBody>
      </p:sp>
      <p:sp>
        <p:nvSpPr>
          <p:cNvPr id="8" name="Rectangle 7"/>
          <p:cNvSpPr/>
          <p:nvPr/>
        </p:nvSpPr>
        <p:spPr>
          <a:xfrm>
            <a:off x="621792" y="3895344"/>
            <a:ext cx="201168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4187952"/>
            <a:ext cx="8539526" cy="340868"/>
          </a:xfrm>
          <a:prstGeom prst="rect">
            <a:avLst/>
          </a:prstGeom>
          <a:noFill/>
        </p:spPr>
        <p:txBody>
          <a:bodyPr wrap="square" lIns="0" tIns="0" rIns="0" bIns="0">
            <a:spAutoFit/>
          </a:bodyPr>
          <a:lstStyle/>
          <a:p>
            <a:pPr algn="l">
              <a:lnSpc>
                <a:spcPct val="100000"/>
              </a:lnSpc>
              <a:spcAft>
                <a:spcPts val="0"/>
              </a:spcAft>
            </a:pPr>
            <a:r>
              <a:rPr sz="2200" b="0" i="0">
                <a:solidFill>
                  <a:srgbClr val="59697D"/>
                </a:solidFill>
                <a:latin typeface="Calibri"/>
              </a:rPr>
              <a:t>AI-powered AML detection &amp; investigation intelligence</a:t>
            </a:r>
            <a:endParaRPr sz="2200" b="0" i="0">
              <a:solidFill>
                <a:srgbClr val="59697D"/>
              </a:solidFill>
              <a:latin typeface="Calibri"/>
            </a:endParaRPr>
          </a:p>
        </p:txBody>
      </p:sp>
      <p:sp>
        <p:nvSpPr>
          <p:cNvPr id="10" name="Rounded Rectangle 9"/>
          <p:cNvSpPr/>
          <p:nvPr/>
        </p:nvSpPr>
        <p:spPr>
          <a:xfrm>
            <a:off x="621792" y="4828032"/>
            <a:ext cx="7225753" cy="896112"/>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010912"/>
            <a:ext cx="6640537" cy="619759"/>
          </a:xfrm>
          <a:prstGeom prst="rect">
            <a:avLst/>
          </a:prstGeom>
          <a:noFill/>
        </p:spPr>
        <p:txBody>
          <a:bodyPr wrap="square" lIns="0" tIns="0" rIns="0" bIns="0">
            <a:spAutoFit/>
          </a:bodyPr>
          <a:lstStyle/>
          <a:p>
            <a:pPr algn="l">
              <a:lnSpc>
                <a:spcPct val="100000"/>
              </a:lnSpc>
              <a:spcAft>
                <a:spcPts val="0"/>
              </a:spcAft>
            </a:pPr>
            <a:r>
              <a:rPr sz="2000" b="1" i="1">
                <a:solidFill>
                  <a:srgbClr val="12365E"/>
                </a:solidFill>
                <a:latin typeface="Calibri"/>
              </a:rPr>
              <a:t>Every rupee leaves a trail. TraceX makes it impossible to hide.</a:t>
            </a:r>
            <a:endParaRPr sz="2000" b="1" i="1">
              <a:solidFill>
                <a:srgbClr val="12365E"/>
              </a:solidFill>
              <a:latin typeface="Calibri"/>
            </a:endParaRPr>
          </a:p>
        </p:txBody>
      </p:sp>
      <p:sp>
        <p:nvSpPr>
          <p:cNvPr id="12" name="TextBox 11"/>
          <p:cNvSpPr txBox="1"/>
          <p:nvPr/>
        </p:nvSpPr>
        <p:spPr>
          <a:xfrm>
            <a:off x="7546543" y="4846320"/>
            <a:ext cx="4023360" cy="1045845"/>
          </a:xfrm>
          <a:prstGeom prst="rect">
            <a:avLst/>
          </a:prstGeom>
          <a:noFill/>
        </p:spPr>
        <p:txBody>
          <a:bodyPr wrap="square" lIns="0" tIns="0" rIns="0" bIns="0">
            <a:spAutoFit/>
          </a:bodyPr>
          <a:lstStyle/>
          <a:p>
            <a:pPr algn="r">
              <a:lnSpc>
                <a:spcPct val="125000"/>
              </a:lnSpc>
              <a:spcAft>
                <a:spcPts val="0"/>
              </a:spcAft>
            </a:pPr>
            <a:r>
              <a:rPr sz="1800" b="0" i="0">
                <a:solidFill>
                  <a:srgbClr val="59697D"/>
                </a:solidFill>
                <a:latin typeface="Calibri"/>
              </a:rPr>
              <a:t>PSB Hackathon Winner</a:t>
            </a:r>
            <a:endParaRPr sz="1800" b="0" i="0">
              <a:solidFill>
                <a:srgbClr val="59697D"/>
              </a:solidFill>
              <a:latin typeface="Calibri"/>
            </a:endParaRPr>
          </a:p>
          <a:p>
            <a:pPr algn="r">
              <a:lnSpc>
                <a:spcPct val="125000"/>
              </a:lnSpc>
              <a:spcAft>
                <a:spcPts val="0"/>
              </a:spcAft>
            </a:pPr>
            <a:r>
              <a:rPr sz="1800" b="0" i="0">
                <a:solidFill>
                  <a:srgbClr val="59697D"/>
                </a:solidFill>
                <a:latin typeface="Calibri"/>
              </a:rPr>
              <a:t>Global Fintech Festival '26</a:t>
            </a:r>
            <a:endParaRPr sz="1800" b="0" i="0">
              <a:solidFill>
                <a:srgbClr val="59697D"/>
              </a:solidFill>
              <a:latin typeface="Calibri"/>
            </a:endParaRPr>
          </a:p>
          <a:p>
            <a:pPr algn="r">
              <a:lnSpc>
                <a:spcPct val="125000"/>
              </a:lnSpc>
              <a:spcAft>
                <a:spcPts val="0"/>
              </a:spcAft>
            </a:pPr>
            <a:r>
              <a:rPr sz="1800" b="0" i="0">
                <a:solidFill>
                  <a:srgbClr val="59697D"/>
                </a:solidFill>
                <a:latin typeface="Calibri"/>
              </a:rPr>
              <a:t>Vaideeka Agrawal  ·  Team syntax_error</a:t>
            </a:r>
            <a:endParaRPr sz="1800" b="0" i="0">
              <a:solidFill>
                <a:srgbClr val="59697D"/>
              </a:solidFill>
              <a:latin typeface="Calibri"/>
            </a:endParaRPr>
          </a:p>
        </p:txBody>
      </p:sp>
      <p:sp>
        <p:nvSpPr>
          <p:cNvPr id="13" name="Rectangle 12"/>
          <p:cNvSpPr/>
          <p:nvPr/>
        </p:nvSpPr>
        <p:spPr>
          <a:xfrm>
            <a:off x="0" y="6675120"/>
            <a:ext cx="12191695" cy="182880"/>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THE PROBLEM</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The alerts aren't the problem. Clearing them is.</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515258" cy="1481328"/>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33016"/>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₹54 Cr</a:t>
            </a:r>
            <a:endParaRPr sz="3000" b="1" i="0">
              <a:solidFill>
                <a:srgbClr val="12365E"/>
              </a:solidFill>
              <a:latin typeface="Calibri"/>
            </a:endParaRPr>
          </a:p>
        </p:txBody>
      </p:sp>
      <p:sp>
        <p:nvSpPr>
          <p:cNvPr id="8" name="TextBox 7"/>
          <p:cNvSpPr txBox="1"/>
          <p:nvPr/>
        </p:nvSpPr>
        <p:spPr>
          <a:xfrm>
            <a:off x="786384" y="2570988"/>
            <a:ext cx="3186074" cy="278892"/>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RBI penalties levied in FY25</a:t>
            </a:r>
            <a:endParaRPr sz="1800" b="0" i="0">
              <a:solidFill>
                <a:srgbClr val="59697D"/>
              </a:solidFill>
              <a:latin typeface="Calibri"/>
            </a:endParaRPr>
          </a:p>
        </p:txBody>
      </p:sp>
      <p:sp>
        <p:nvSpPr>
          <p:cNvPr id="9" name="Rounded Rectangle 8"/>
          <p:cNvSpPr/>
          <p:nvPr/>
        </p:nvSpPr>
        <p:spPr>
          <a:xfrm>
            <a:off x="4338218" y="1700784"/>
            <a:ext cx="3515258" cy="1481328"/>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810" y="2033016"/>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90–95%</a:t>
            </a:r>
            <a:endParaRPr sz="3000" b="1" i="0">
              <a:solidFill>
                <a:srgbClr val="12365E"/>
              </a:solidFill>
              <a:latin typeface="Calibri"/>
            </a:endParaRPr>
          </a:p>
        </p:txBody>
      </p:sp>
      <p:sp>
        <p:nvSpPr>
          <p:cNvPr id="11" name="TextBox 10"/>
          <p:cNvSpPr txBox="1"/>
          <p:nvPr/>
        </p:nvSpPr>
        <p:spPr>
          <a:xfrm>
            <a:off x="4502810" y="2570988"/>
            <a:ext cx="3186074" cy="278892"/>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of AML alerts are false positives</a:t>
            </a:r>
            <a:endParaRPr sz="1800" b="0" i="0">
              <a:solidFill>
                <a:srgbClr val="59697D"/>
              </a:solidFill>
              <a:latin typeface="Calibri"/>
            </a:endParaRPr>
          </a:p>
        </p:txBody>
      </p:sp>
      <p:sp>
        <p:nvSpPr>
          <p:cNvPr id="12" name="Rounded Rectangle 11"/>
          <p:cNvSpPr/>
          <p:nvPr/>
        </p:nvSpPr>
        <p:spPr>
          <a:xfrm>
            <a:off x="8054644" y="1700784"/>
            <a:ext cx="3515258" cy="1481328"/>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9236" y="1893570"/>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21 bn</a:t>
            </a:r>
            <a:endParaRPr sz="3000" b="1" i="0">
              <a:solidFill>
                <a:srgbClr val="12365E"/>
              </a:solidFill>
              <a:latin typeface="Calibri"/>
            </a:endParaRPr>
          </a:p>
        </p:txBody>
      </p:sp>
      <p:sp>
        <p:nvSpPr>
          <p:cNvPr id="14" name="TextBox 13"/>
          <p:cNvSpPr txBox="1"/>
          <p:nvPr/>
        </p:nvSpPr>
        <p:spPr>
          <a:xfrm>
            <a:off x="8219236" y="2431542"/>
            <a:ext cx="3186074"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UPI transactions in one month, +29% YoY</a:t>
            </a:r>
            <a:endParaRPr sz="1800" b="0" i="0">
              <a:solidFill>
                <a:srgbClr val="59697D"/>
              </a:solidFill>
              <a:latin typeface="Calibri"/>
            </a:endParaRPr>
          </a:p>
        </p:txBody>
      </p:sp>
      <p:sp>
        <p:nvSpPr>
          <p:cNvPr id="15" name="Rounded Rectangle 14"/>
          <p:cNvSpPr/>
          <p:nvPr/>
        </p:nvSpPr>
        <p:spPr>
          <a:xfrm>
            <a:off x="621792" y="3346704"/>
            <a:ext cx="5318607" cy="192024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3346704"/>
            <a:ext cx="68580" cy="19202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584448"/>
            <a:ext cx="4751679" cy="309879"/>
          </a:xfrm>
          <a:prstGeom prst="rect">
            <a:avLst/>
          </a:prstGeom>
          <a:noFill/>
        </p:spPr>
        <p:txBody>
          <a:bodyPr wrap="square" lIns="0" tIns="0" rIns="0" bIns="0">
            <a:spAutoFit/>
          </a:bodyPr>
          <a:lstStyle/>
          <a:p>
            <a:pPr algn="l">
              <a:lnSpc>
                <a:spcPct val="100000"/>
              </a:lnSpc>
              <a:spcAft>
                <a:spcPts val="0"/>
              </a:spcAft>
            </a:pPr>
            <a:r>
              <a:rPr sz="2000" b="1" i="0">
                <a:solidFill>
                  <a:srgbClr val="C8102E"/>
                </a:solidFill>
                <a:latin typeface="Calibri"/>
              </a:rPr>
              <a:t>THE DETECTION GAP</a:t>
            </a:r>
            <a:endParaRPr sz="2000" b="1" i="0">
              <a:solidFill>
                <a:srgbClr val="C8102E"/>
              </a:solidFill>
              <a:latin typeface="Calibri"/>
            </a:endParaRPr>
          </a:p>
        </p:txBody>
      </p:sp>
      <p:sp>
        <p:nvSpPr>
          <p:cNvPr id="18" name="TextBox 17"/>
          <p:cNvSpPr txBox="1"/>
          <p:nvPr/>
        </p:nvSpPr>
        <p:spPr>
          <a:xfrm>
            <a:off x="932688" y="4023360"/>
            <a:ext cx="4733391" cy="971473"/>
          </a:xfrm>
          <a:prstGeom prst="rect">
            <a:avLst/>
          </a:prstGeom>
          <a:noFill/>
        </p:spPr>
        <p:txBody>
          <a:bodyPr wrap="square" lIns="0" tIns="0" rIns="0" bIns="0">
            <a:spAutoFit/>
          </a:bodyPr>
          <a:lstStyle/>
          <a:p>
            <a:pPr algn="l">
              <a:lnSpc>
                <a:spcPct val="110000"/>
              </a:lnSpc>
              <a:spcAft>
                <a:spcPts val="0"/>
              </a:spcAft>
            </a:pPr>
            <a:r>
              <a:rPr sz="1900" b="0" i="0">
                <a:solidFill>
                  <a:srgbClr val="0D1B2A"/>
                </a:solidFill>
                <a:latin typeface="Calibri"/>
              </a:rPr>
              <a:t>A single transaction looks normal alone. Launderers structure below ₹10 lakh because row-by-row rules can't see across accounts.</a:t>
            </a:r>
            <a:endParaRPr sz="1900" b="0" i="0">
              <a:solidFill>
                <a:srgbClr val="0D1B2A"/>
              </a:solidFill>
              <a:latin typeface="Calibri"/>
            </a:endParaRPr>
          </a:p>
        </p:txBody>
      </p:sp>
      <p:sp>
        <p:nvSpPr>
          <p:cNvPr id="19" name="Rounded Rectangle 18"/>
          <p:cNvSpPr/>
          <p:nvPr/>
        </p:nvSpPr>
        <p:spPr>
          <a:xfrm>
            <a:off x="6251295" y="3346704"/>
            <a:ext cx="5318607" cy="192024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1295" y="3346704"/>
            <a:ext cx="68580" cy="1920240"/>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62191" y="3584448"/>
            <a:ext cx="4751679"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THE INVESTIGATION GAP</a:t>
            </a:r>
            <a:endParaRPr sz="2000" b="1" i="0">
              <a:solidFill>
                <a:srgbClr val="12365E"/>
              </a:solidFill>
              <a:latin typeface="Calibri"/>
            </a:endParaRPr>
          </a:p>
        </p:txBody>
      </p:sp>
      <p:sp>
        <p:nvSpPr>
          <p:cNvPr id="22" name="TextBox 21"/>
          <p:cNvSpPr txBox="1"/>
          <p:nvPr/>
        </p:nvSpPr>
        <p:spPr>
          <a:xfrm>
            <a:off x="6562191" y="4023360"/>
            <a:ext cx="4733391" cy="971473"/>
          </a:xfrm>
          <a:prstGeom prst="rect">
            <a:avLst/>
          </a:prstGeom>
          <a:noFill/>
        </p:spPr>
        <p:txBody>
          <a:bodyPr wrap="square" lIns="0" tIns="0" rIns="0" bIns="0">
            <a:spAutoFit/>
          </a:bodyPr>
          <a:lstStyle/>
          <a:p>
            <a:pPr algn="l">
              <a:lnSpc>
                <a:spcPct val="110000"/>
              </a:lnSpc>
              <a:spcAft>
                <a:spcPts val="0"/>
              </a:spcAft>
            </a:pPr>
            <a:r>
              <a:rPr sz="1900" b="0" i="0">
                <a:solidFill>
                  <a:srgbClr val="0D1B2A"/>
                </a:solidFill>
                <a:latin typeface="Calibri"/>
              </a:rPr>
              <a:t>Every alert still needs a human to assemble evidence by hand across four systems. The queue grows faster than the team.</a:t>
            </a:r>
            <a:endParaRPr sz="1900" b="0" i="0">
              <a:solidFill>
                <a:srgbClr val="0D1B2A"/>
              </a:solidFill>
              <a:latin typeface="Calibri"/>
            </a:endParaRPr>
          </a:p>
        </p:txBody>
      </p:sp>
      <p:sp>
        <p:nvSpPr>
          <p:cNvPr id="23" name="Rounded Rectangle 22"/>
          <p:cNvSpPr/>
          <p:nvPr/>
        </p:nvSpPr>
        <p:spPr>
          <a:xfrm>
            <a:off x="621792" y="5449824"/>
            <a:ext cx="10948111" cy="658368"/>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5608574"/>
            <a:ext cx="10948111" cy="340868"/>
          </a:xfrm>
          <a:prstGeom prst="rect">
            <a:avLst/>
          </a:prstGeom>
          <a:noFill/>
        </p:spPr>
        <p:txBody>
          <a:bodyPr wrap="square" lIns="0" tIns="0" rIns="0" bIns="0">
            <a:spAutoFit/>
          </a:bodyPr>
          <a:lstStyle/>
          <a:p>
            <a:pPr algn="ctr">
              <a:lnSpc>
                <a:spcPct val="100000"/>
              </a:lnSpc>
              <a:spcAft>
                <a:spcPts val="0"/>
              </a:spcAft>
            </a:pPr>
            <a:r>
              <a:rPr sz="2200" b="1" i="0">
                <a:solidFill>
                  <a:srgbClr val="FFFFFF"/>
                </a:solidFill>
                <a:latin typeface="Calibri"/>
              </a:rPr>
              <a:t>Undetected.   Unresolved.   Unreported.   — and the penalty lands on the bank.</a:t>
            </a:r>
            <a:endParaRPr sz="2200" b="1" i="0">
              <a:solidFill>
                <a:srgbClr val="FFFFFF"/>
              </a:solidFill>
              <a:latin typeface="Calibri"/>
            </a:endParaRPr>
          </a:p>
        </p:txBody>
      </p:sp>
      <p:sp>
        <p:nvSpPr>
          <p:cNvPr id="25" name="TextBox 24"/>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6" name="TextBox 25"/>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2</a:t>
            </a:r>
            <a:endParaRPr sz="1800" b="1" i="0">
              <a:solidFill>
                <a:srgbClr val="93A2B3"/>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THE IDEA</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What if AML could detect, investigate — and learn?</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59536" y="1920240"/>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984248"/>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01</a:t>
            </a:r>
            <a:endParaRPr sz="1800" b="1" i="0">
              <a:solidFill>
                <a:srgbClr val="FFFFFF"/>
              </a:solidFill>
              <a:latin typeface="Calibri"/>
            </a:endParaRPr>
          </a:p>
        </p:txBody>
      </p:sp>
      <p:sp>
        <p:nvSpPr>
          <p:cNvPr id="9" name="TextBox 8"/>
          <p:cNvSpPr txBox="1"/>
          <p:nvPr/>
        </p:nvSpPr>
        <p:spPr>
          <a:xfrm>
            <a:off x="1463040" y="1975104"/>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DETECT</a:t>
            </a:r>
            <a:endParaRPr sz="2100" b="1" i="0">
              <a:solidFill>
                <a:srgbClr val="12365E"/>
              </a:solidFill>
              <a:latin typeface="Calibri"/>
            </a:endParaRPr>
          </a:p>
        </p:txBody>
      </p:sp>
      <p:sp>
        <p:nvSpPr>
          <p:cNvPr id="10" name="TextBox 9"/>
          <p:cNvSpPr txBox="1"/>
          <p:nvPr/>
        </p:nvSpPr>
        <p:spPr>
          <a:xfrm>
            <a:off x="859536" y="2468880"/>
            <a:ext cx="3015386"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Six typology detectors plus dual ML, reading the live transaction graph.</a:t>
            </a:r>
            <a:endParaRPr sz="1800" b="0" i="0">
              <a:solidFill>
                <a:srgbClr val="59697D"/>
              </a:solidFill>
              <a:latin typeface="Calibri"/>
            </a:endParaRPr>
          </a:p>
        </p:txBody>
      </p:sp>
      <p:sp>
        <p:nvSpPr>
          <p:cNvPr id="11" name="Rounded Rectangle 10"/>
          <p:cNvSpPr/>
          <p:nvPr/>
        </p:nvSpPr>
        <p:spPr>
          <a:xfrm>
            <a:off x="4350410" y="1700784"/>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88154" y="1920240"/>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8154" y="1984248"/>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02</a:t>
            </a:r>
            <a:endParaRPr sz="1800" b="1" i="0">
              <a:solidFill>
                <a:srgbClr val="FFFFFF"/>
              </a:solidFill>
              <a:latin typeface="Calibri"/>
            </a:endParaRPr>
          </a:p>
        </p:txBody>
      </p:sp>
      <p:sp>
        <p:nvSpPr>
          <p:cNvPr id="14" name="TextBox 13"/>
          <p:cNvSpPr txBox="1"/>
          <p:nvPr/>
        </p:nvSpPr>
        <p:spPr>
          <a:xfrm>
            <a:off x="5191658" y="1975104"/>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PRIORITISE</a:t>
            </a:r>
            <a:endParaRPr sz="2100" b="1" i="0">
              <a:solidFill>
                <a:srgbClr val="12365E"/>
              </a:solidFill>
              <a:latin typeface="Calibri"/>
            </a:endParaRPr>
          </a:p>
        </p:txBody>
      </p:sp>
      <p:sp>
        <p:nvSpPr>
          <p:cNvPr id="15" name="TextBox 14"/>
          <p:cNvSpPr txBox="1"/>
          <p:nvPr/>
        </p:nvSpPr>
        <p:spPr>
          <a:xfrm>
            <a:off x="4588154" y="2468880"/>
            <a:ext cx="3015386"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Ranked by risk, network context, and what past cases actually proved.</a:t>
            </a:r>
            <a:endParaRPr sz="1800" b="0" i="0">
              <a:solidFill>
                <a:srgbClr val="59697D"/>
              </a:solidFill>
              <a:latin typeface="Calibri"/>
            </a:endParaRPr>
          </a:p>
        </p:txBody>
      </p:sp>
      <p:sp>
        <p:nvSpPr>
          <p:cNvPr id="16" name="Rounded Rectangle 15"/>
          <p:cNvSpPr/>
          <p:nvPr/>
        </p:nvSpPr>
        <p:spPr>
          <a:xfrm>
            <a:off x="8079028" y="1700784"/>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16772" y="1920240"/>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6772" y="1984248"/>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03</a:t>
            </a:r>
            <a:endParaRPr sz="1800" b="1" i="0">
              <a:solidFill>
                <a:srgbClr val="FFFFFF"/>
              </a:solidFill>
              <a:latin typeface="Calibri"/>
            </a:endParaRPr>
          </a:p>
        </p:txBody>
      </p:sp>
      <p:sp>
        <p:nvSpPr>
          <p:cNvPr id="19" name="TextBox 18"/>
          <p:cNvSpPr txBox="1"/>
          <p:nvPr/>
        </p:nvSpPr>
        <p:spPr>
          <a:xfrm>
            <a:off x="8920276" y="1975104"/>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INVESTIGATE</a:t>
            </a:r>
            <a:endParaRPr sz="2100" b="1" i="0">
              <a:solidFill>
                <a:srgbClr val="12365E"/>
              </a:solidFill>
              <a:latin typeface="Calibri"/>
            </a:endParaRPr>
          </a:p>
        </p:txBody>
      </p:sp>
      <p:sp>
        <p:nvSpPr>
          <p:cNvPr id="20" name="TextBox 19"/>
          <p:cNvSpPr txBox="1"/>
          <p:nvPr/>
        </p:nvSpPr>
        <p:spPr>
          <a:xfrm>
            <a:off x="8316772" y="2468880"/>
            <a:ext cx="3015386"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Money flow, relationships and multi-hop activity on one screen.</a:t>
            </a:r>
            <a:endParaRPr sz="1800" b="0" i="0">
              <a:solidFill>
                <a:srgbClr val="59697D"/>
              </a:solidFill>
              <a:latin typeface="Calibri"/>
            </a:endParaRPr>
          </a:p>
        </p:txBody>
      </p:sp>
      <p:sp>
        <p:nvSpPr>
          <p:cNvPr id="21" name="Rounded Rectangle 20"/>
          <p:cNvSpPr/>
          <p:nvPr/>
        </p:nvSpPr>
        <p:spPr>
          <a:xfrm>
            <a:off x="621792" y="3685032"/>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59536" y="3904488"/>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3968496"/>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04</a:t>
            </a:r>
            <a:endParaRPr sz="1800" b="1" i="0">
              <a:solidFill>
                <a:srgbClr val="FFFFFF"/>
              </a:solidFill>
              <a:latin typeface="Calibri"/>
            </a:endParaRPr>
          </a:p>
        </p:txBody>
      </p:sp>
      <p:sp>
        <p:nvSpPr>
          <p:cNvPr id="24" name="TextBox 23"/>
          <p:cNvSpPr txBox="1"/>
          <p:nvPr/>
        </p:nvSpPr>
        <p:spPr>
          <a:xfrm>
            <a:off x="1463040" y="3959352"/>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EXPLAIN</a:t>
            </a:r>
            <a:endParaRPr sz="2100" b="1" i="0">
              <a:solidFill>
                <a:srgbClr val="12365E"/>
              </a:solidFill>
              <a:latin typeface="Calibri"/>
            </a:endParaRPr>
          </a:p>
        </p:txBody>
      </p:sp>
      <p:sp>
        <p:nvSpPr>
          <p:cNvPr id="25" name="TextBox 24"/>
          <p:cNvSpPr txBox="1"/>
          <p:nvPr/>
        </p:nvSpPr>
        <p:spPr>
          <a:xfrm>
            <a:off x="859536" y="4453128"/>
            <a:ext cx="3015386"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Plain language — every claim cited to a fact the system computed.</a:t>
            </a:r>
            <a:endParaRPr sz="1800" b="0" i="0">
              <a:solidFill>
                <a:srgbClr val="59697D"/>
              </a:solidFill>
              <a:latin typeface="Calibri"/>
            </a:endParaRPr>
          </a:p>
        </p:txBody>
      </p:sp>
      <p:sp>
        <p:nvSpPr>
          <p:cNvPr id="26" name="Rounded Rectangle 25"/>
          <p:cNvSpPr/>
          <p:nvPr/>
        </p:nvSpPr>
        <p:spPr>
          <a:xfrm>
            <a:off x="4350410" y="3685032"/>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88154" y="3904488"/>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88154" y="3968496"/>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05</a:t>
            </a:r>
            <a:endParaRPr sz="1800" b="1" i="0">
              <a:solidFill>
                <a:srgbClr val="FFFFFF"/>
              </a:solidFill>
              <a:latin typeface="Calibri"/>
            </a:endParaRPr>
          </a:p>
        </p:txBody>
      </p:sp>
      <p:sp>
        <p:nvSpPr>
          <p:cNvPr id="29" name="TextBox 28"/>
          <p:cNvSpPr txBox="1"/>
          <p:nvPr/>
        </p:nvSpPr>
        <p:spPr>
          <a:xfrm>
            <a:off x="5191658" y="3959352"/>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DECIDE</a:t>
            </a:r>
            <a:endParaRPr sz="2100" b="1" i="0">
              <a:solidFill>
                <a:srgbClr val="12365E"/>
              </a:solidFill>
              <a:latin typeface="Calibri"/>
            </a:endParaRPr>
          </a:p>
        </p:txBody>
      </p:sp>
      <p:sp>
        <p:nvSpPr>
          <p:cNvPr id="30" name="TextBox 29"/>
          <p:cNvSpPr txBox="1"/>
          <p:nvPr/>
        </p:nvSpPr>
        <p:spPr>
          <a:xfrm>
            <a:off x="4588154" y="4453128"/>
            <a:ext cx="3015386" cy="602406"/>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Recommend: False Positive · Monitor · Escalate · Report.</a:t>
            </a:r>
            <a:endParaRPr sz="1800" b="0" i="0">
              <a:solidFill>
                <a:srgbClr val="59697D"/>
              </a:solidFill>
              <a:latin typeface="Calibri"/>
            </a:endParaRPr>
          </a:p>
        </p:txBody>
      </p:sp>
      <p:sp>
        <p:nvSpPr>
          <p:cNvPr id="31" name="Rounded Rectangle 30"/>
          <p:cNvSpPr/>
          <p:nvPr/>
        </p:nvSpPr>
        <p:spPr>
          <a:xfrm>
            <a:off x="8079028" y="3685032"/>
            <a:ext cx="3490874" cy="176479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316772" y="3904488"/>
            <a:ext cx="475488" cy="402336"/>
          </a:xfrm>
          <a:prstGeom prst="roundRect">
            <a:avLst>
              <a:gd name="adj" fmla="val 25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16772" y="3968496"/>
            <a:ext cx="475488" cy="278892"/>
          </a:xfrm>
          <a:prstGeom prst="rect">
            <a:avLst/>
          </a:prstGeom>
          <a:noFill/>
        </p:spPr>
        <p:txBody>
          <a:bodyPr wrap="square" lIns="0" tIns="0" rIns="0" bIns="0">
            <a:spAutoFit/>
          </a:bodyPr>
          <a:lstStyle/>
          <a:p>
            <a:pPr algn="ctr">
              <a:lnSpc>
                <a:spcPct val="100000"/>
              </a:lnSpc>
              <a:spcAft>
                <a:spcPts val="0"/>
              </a:spcAft>
            </a:pPr>
            <a:r>
              <a:rPr sz="1800" b="1" i="0">
                <a:solidFill>
                  <a:srgbClr val="FFFFFF"/>
                </a:solidFill>
                <a:latin typeface="Calibri"/>
              </a:rPr>
              <a:t>06</a:t>
            </a:r>
            <a:endParaRPr sz="1800" b="1" i="0">
              <a:solidFill>
                <a:srgbClr val="FFFFFF"/>
              </a:solidFill>
              <a:latin typeface="Calibri"/>
            </a:endParaRPr>
          </a:p>
        </p:txBody>
      </p:sp>
      <p:sp>
        <p:nvSpPr>
          <p:cNvPr id="34" name="TextBox 33"/>
          <p:cNvSpPr txBox="1"/>
          <p:nvPr/>
        </p:nvSpPr>
        <p:spPr>
          <a:xfrm>
            <a:off x="8920276" y="3959352"/>
            <a:ext cx="2485034" cy="325374"/>
          </a:xfrm>
          <a:prstGeom prst="rect">
            <a:avLst/>
          </a:prstGeom>
          <a:noFill/>
        </p:spPr>
        <p:txBody>
          <a:bodyPr wrap="square" lIns="0" tIns="0" rIns="0" bIns="0">
            <a:spAutoFit/>
          </a:bodyPr>
          <a:lstStyle/>
          <a:p>
            <a:pPr algn="l">
              <a:lnSpc>
                <a:spcPct val="100000"/>
              </a:lnSpc>
              <a:spcAft>
                <a:spcPts val="0"/>
              </a:spcAft>
            </a:pPr>
            <a:r>
              <a:rPr sz="2100" b="1" i="0">
                <a:solidFill>
                  <a:srgbClr val="12365E"/>
                </a:solidFill>
                <a:latin typeface="Calibri"/>
              </a:rPr>
              <a:t>LEARN</a:t>
            </a:r>
            <a:endParaRPr sz="2100" b="1" i="0">
              <a:solidFill>
                <a:srgbClr val="12365E"/>
              </a:solidFill>
              <a:latin typeface="Calibri"/>
            </a:endParaRPr>
          </a:p>
        </p:txBody>
      </p:sp>
      <p:sp>
        <p:nvSpPr>
          <p:cNvPr id="35" name="TextBox 34"/>
          <p:cNvSpPr txBox="1"/>
          <p:nvPr/>
        </p:nvSpPr>
        <p:spPr>
          <a:xfrm>
            <a:off x="8316772" y="4453128"/>
            <a:ext cx="3015386" cy="602406"/>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Every verdict re-ranks the queue and updates rule confidence.</a:t>
            </a:r>
            <a:endParaRPr sz="1800" b="0" i="0">
              <a:solidFill>
                <a:srgbClr val="59697D"/>
              </a:solidFill>
              <a:latin typeface="Calibri"/>
            </a:endParaRPr>
          </a:p>
        </p:txBody>
      </p:sp>
      <p:sp>
        <p:nvSpPr>
          <p:cNvPr id="36" name="Rounded Rectangle 35"/>
          <p:cNvSpPr/>
          <p:nvPr/>
        </p:nvSpPr>
        <p:spPr>
          <a:xfrm>
            <a:off x="621792" y="5632704"/>
            <a:ext cx="10948111" cy="640080"/>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5774563"/>
            <a:ext cx="10948111" cy="356362"/>
          </a:xfrm>
          <a:prstGeom prst="rect">
            <a:avLst/>
          </a:prstGeom>
          <a:noFill/>
        </p:spPr>
        <p:txBody>
          <a:bodyPr wrap="square" lIns="0" tIns="0" rIns="0" bIns="0">
            <a:spAutoFit/>
          </a:bodyPr>
          <a:lstStyle/>
          <a:p>
            <a:pPr algn="ctr">
              <a:lnSpc>
                <a:spcPct val="100000"/>
              </a:lnSpc>
              <a:spcAft>
                <a:spcPts val="0"/>
              </a:spcAft>
            </a:pPr>
            <a:r>
              <a:rPr sz="2300" b="1" i="0">
                <a:solidFill>
                  <a:srgbClr val="12365E"/>
                </a:solidFill>
                <a:latin typeface="Calibri"/>
              </a:rPr>
              <a:t>Every investigation makes the next investigation smarter.</a:t>
            </a:r>
            <a:endParaRPr sz="2300" b="1" i="0">
              <a:solidFill>
                <a:srgbClr val="12365E"/>
              </a:solidFill>
              <a:latin typeface="Calibri"/>
            </a:endParaRPr>
          </a:p>
        </p:txBody>
      </p:sp>
      <p:sp>
        <p:nvSpPr>
          <p:cNvPr id="38" name="TextBox 37"/>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39" name="TextBox 38"/>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3</a:t>
            </a:r>
            <a:endParaRPr sz="1800" b="1" i="0">
              <a:solidFill>
                <a:srgbClr val="93A2B3"/>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THE WORKFLOW</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One alert. One defensible decision.</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621792" y="1700784"/>
            <a:ext cx="1736445" cy="914400"/>
          </a:xfrm>
          <a:prstGeom prst="chevron">
            <a:avLst>
              <a:gd name="adj" fmla="val 26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01</a:t>
            </a:r>
            <a:endParaRPr sz="1800" b="1">
              <a:solidFill>
                <a:srgbClr val="A9C0DA"/>
              </a:solidFill>
              <a:latin typeface="Calibri"/>
            </a:endParaRPr>
          </a:p>
          <a:p>
            <a:pPr algn="ctr"/>
            <a:r>
              <a:rPr sz="1800" b="1">
                <a:solidFill>
                  <a:srgbClr val="FFFFFF"/>
                </a:solidFill>
                <a:latin typeface="Calibri"/>
              </a:rPr>
              <a:t>DETECT</a:t>
            </a:r>
            <a:endParaRPr sz="1800" b="1">
              <a:solidFill>
                <a:srgbClr val="FFFFFF"/>
              </a:solidFill>
              <a:latin typeface="Calibri"/>
            </a:endParaRPr>
          </a:p>
        </p:txBody>
      </p:sp>
      <p:sp>
        <p:nvSpPr>
          <p:cNvPr id="7" name="Chevron 6"/>
          <p:cNvSpPr/>
          <p:nvPr/>
        </p:nvSpPr>
        <p:spPr>
          <a:xfrm>
            <a:off x="2157069" y="1700784"/>
            <a:ext cx="1736445" cy="914400"/>
          </a:xfrm>
          <a:prstGeom prst="chevron">
            <a:avLst>
              <a:gd name="adj" fmla="val 26000"/>
            </a:avLst>
          </a:prstGeom>
          <a:solidFill>
            <a:srgbClr val="1B4B7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02</a:t>
            </a:r>
            <a:endParaRPr sz="1800" b="1">
              <a:solidFill>
                <a:srgbClr val="A9C0DA"/>
              </a:solidFill>
              <a:latin typeface="Calibri"/>
            </a:endParaRPr>
          </a:p>
          <a:p>
            <a:pPr algn="ctr"/>
            <a:r>
              <a:rPr sz="1800" b="1">
                <a:solidFill>
                  <a:srgbClr val="FFFFFF"/>
                </a:solidFill>
                <a:latin typeface="Calibri"/>
              </a:rPr>
              <a:t>PRIORITISE</a:t>
            </a:r>
            <a:endParaRPr sz="1800" b="1">
              <a:solidFill>
                <a:srgbClr val="FFFFFF"/>
              </a:solidFill>
              <a:latin typeface="Calibri"/>
            </a:endParaRPr>
          </a:p>
        </p:txBody>
      </p:sp>
      <p:sp>
        <p:nvSpPr>
          <p:cNvPr id="8" name="Chevron 7"/>
          <p:cNvSpPr/>
          <p:nvPr/>
        </p:nvSpPr>
        <p:spPr>
          <a:xfrm>
            <a:off x="3692347" y="1700784"/>
            <a:ext cx="1736445" cy="914400"/>
          </a:xfrm>
          <a:prstGeom prst="chevron">
            <a:avLst>
              <a:gd name="adj" fmla="val 26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03</a:t>
            </a:r>
            <a:endParaRPr sz="1800" b="1">
              <a:solidFill>
                <a:srgbClr val="A9C0DA"/>
              </a:solidFill>
              <a:latin typeface="Calibri"/>
            </a:endParaRPr>
          </a:p>
          <a:p>
            <a:pPr algn="ctr"/>
            <a:r>
              <a:rPr sz="1800" b="1">
                <a:solidFill>
                  <a:srgbClr val="FFFFFF"/>
                </a:solidFill>
                <a:latin typeface="Calibri"/>
              </a:rPr>
              <a:t>TRACE</a:t>
            </a:r>
            <a:endParaRPr sz="1800" b="1">
              <a:solidFill>
                <a:srgbClr val="FFFFFF"/>
              </a:solidFill>
              <a:latin typeface="Calibri"/>
            </a:endParaRPr>
          </a:p>
        </p:txBody>
      </p:sp>
      <p:sp>
        <p:nvSpPr>
          <p:cNvPr id="9" name="Chevron 8"/>
          <p:cNvSpPr/>
          <p:nvPr/>
        </p:nvSpPr>
        <p:spPr>
          <a:xfrm>
            <a:off x="5227624" y="1700784"/>
            <a:ext cx="1736445" cy="914400"/>
          </a:xfrm>
          <a:prstGeom prst="chevron">
            <a:avLst>
              <a:gd name="adj" fmla="val 26000"/>
            </a:avLst>
          </a:prstGeom>
          <a:solidFill>
            <a:srgbClr val="1B4B7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04</a:t>
            </a:r>
            <a:endParaRPr sz="1800" b="1">
              <a:solidFill>
                <a:srgbClr val="A9C0DA"/>
              </a:solidFill>
              <a:latin typeface="Calibri"/>
            </a:endParaRPr>
          </a:p>
          <a:p>
            <a:pPr algn="ctr"/>
            <a:r>
              <a:rPr sz="1800" b="1">
                <a:solidFill>
                  <a:srgbClr val="FFFFFF"/>
                </a:solidFill>
                <a:latin typeface="Calibri"/>
              </a:rPr>
              <a:t>UNDERSTAND</a:t>
            </a:r>
            <a:endParaRPr sz="1800" b="1">
              <a:solidFill>
                <a:srgbClr val="FFFFFF"/>
              </a:solidFill>
              <a:latin typeface="Calibri"/>
            </a:endParaRPr>
          </a:p>
        </p:txBody>
      </p:sp>
      <p:sp>
        <p:nvSpPr>
          <p:cNvPr id="10" name="Chevron 9"/>
          <p:cNvSpPr/>
          <p:nvPr/>
        </p:nvSpPr>
        <p:spPr>
          <a:xfrm>
            <a:off x="6762902" y="1700784"/>
            <a:ext cx="1736445" cy="914400"/>
          </a:xfrm>
          <a:prstGeom prst="chevron">
            <a:avLst>
              <a:gd name="adj" fmla="val 26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05</a:t>
            </a:r>
            <a:endParaRPr sz="1800" b="1">
              <a:solidFill>
                <a:srgbClr val="A9C0DA"/>
              </a:solidFill>
              <a:latin typeface="Calibri"/>
            </a:endParaRPr>
          </a:p>
          <a:p>
            <a:pPr algn="ctr"/>
            <a:r>
              <a:rPr sz="1800" b="1">
                <a:solidFill>
                  <a:srgbClr val="FFFFFF"/>
                </a:solidFill>
                <a:latin typeface="Calibri"/>
              </a:rPr>
              <a:t>EXPLAIN</a:t>
            </a:r>
            <a:endParaRPr sz="1800" b="1">
              <a:solidFill>
                <a:srgbClr val="FFFFFF"/>
              </a:solidFill>
              <a:latin typeface="Calibri"/>
            </a:endParaRPr>
          </a:p>
        </p:txBody>
      </p:sp>
      <p:sp>
        <p:nvSpPr>
          <p:cNvPr id="11" name="Chevron 10"/>
          <p:cNvSpPr/>
          <p:nvPr/>
        </p:nvSpPr>
        <p:spPr>
          <a:xfrm>
            <a:off x="8298180" y="1700784"/>
            <a:ext cx="1736445" cy="914400"/>
          </a:xfrm>
          <a:prstGeom prst="chevron">
            <a:avLst>
              <a:gd name="adj" fmla="val 26000"/>
            </a:avLst>
          </a:prstGeom>
          <a:solidFill>
            <a:srgbClr val="1B4B7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06</a:t>
            </a:r>
            <a:endParaRPr sz="1800" b="1">
              <a:solidFill>
                <a:srgbClr val="A9C0DA"/>
              </a:solidFill>
              <a:latin typeface="Calibri"/>
            </a:endParaRPr>
          </a:p>
          <a:p>
            <a:pPr algn="ctr"/>
            <a:r>
              <a:rPr sz="1800" b="1">
                <a:solidFill>
                  <a:srgbClr val="FFFFFF"/>
                </a:solidFill>
                <a:latin typeface="Calibri"/>
              </a:rPr>
              <a:t>DECIDE</a:t>
            </a:r>
            <a:endParaRPr sz="1800" b="1">
              <a:solidFill>
                <a:srgbClr val="FFFFFF"/>
              </a:solidFill>
              <a:latin typeface="Calibri"/>
            </a:endParaRPr>
          </a:p>
        </p:txBody>
      </p:sp>
      <p:sp>
        <p:nvSpPr>
          <p:cNvPr id="12" name="Chevron 11"/>
          <p:cNvSpPr/>
          <p:nvPr/>
        </p:nvSpPr>
        <p:spPr>
          <a:xfrm>
            <a:off x="9833457" y="1700784"/>
            <a:ext cx="1736445" cy="914400"/>
          </a:xfrm>
          <a:prstGeom prst="chevron">
            <a:avLst>
              <a:gd name="adj" fmla="val 26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wrap="square" lIns="146304" rIns="146304" rtlCol="0" anchor="ctr"/>
          <a:lstStyle/>
          <a:p>
            <a:pPr algn="ctr"/>
            <a:r>
              <a:rPr sz="1800" b="1">
                <a:solidFill>
                  <a:srgbClr val="A9C0DA"/>
                </a:solidFill>
                <a:latin typeface="Calibri"/>
              </a:rPr>
              <a:t>07</a:t>
            </a:r>
            <a:endParaRPr sz="1800" b="1">
              <a:solidFill>
                <a:srgbClr val="A9C0DA"/>
              </a:solidFill>
              <a:latin typeface="Calibri"/>
            </a:endParaRPr>
          </a:p>
          <a:p>
            <a:pPr algn="ctr"/>
            <a:r>
              <a:rPr sz="1800" b="1">
                <a:solidFill>
                  <a:srgbClr val="FFFFFF"/>
                </a:solidFill>
                <a:latin typeface="Calibri"/>
              </a:rPr>
              <a:t>REPORT</a:t>
            </a:r>
            <a:endParaRPr sz="1800" b="1">
              <a:solidFill>
                <a:srgbClr val="FFFFFF"/>
              </a:solidFill>
              <a:latin typeface="Calibri"/>
            </a:endParaRPr>
          </a:p>
        </p:txBody>
      </p:sp>
      <p:sp>
        <p:nvSpPr>
          <p:cNvPr id="13" name="Rounded Rectangle 12"/>
          <p:cNvSpPr/>
          <p:nvPr/>
        </p:nvSpPr>
        <p:spPr>
          <a:xfrm>
            <a:off x="621792" y="2834640"/>
            <a:ext cx="3466490" cy="2231136"/>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 y="3108960"/>
            <a:ext cx="8229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46704"/>
            <a:ext cx="2917850"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EVIDENCE, PRE-ASSEMBLED</a:t>
            </a:r>
            <a:endParaRPr sz="2000" b="1" i="0">
              <a:solidFill>
                <a:srgbClr val="12365E"/>
              </a:solidFill>
              <a:latin typeface="Calibri"/>
            </a:endParaRPr>
          </a:p>
        </p:txBody>
      </p:sp>
      <p:sp>
        <p:nvSpPr>
          <p:cNvPr id="16" name="TextBox 15"/>
          <p:cNvSpPr txBox="1"/>
          <p:nvPr/>
        </p:nvSpPr>
        <p:spPr>
          <a:xfrm>
            <a:off x="896112" y="4005072"/>
            <a:ext cx="2917850"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Profile, history, network and prior cases already on screen. No system-hopping.</a:t>
            </a:r>
            <a:endParaRPr sz="1800" b="0" i="0">
              <a:solidFill>
                <a:srgbClr val="59697D"/>
              </a:solidFill>
              <a:latin typeface="Calibri"/>
            </a:endParaRPr>
          </a:p>
        </p:txBody>
      </p:sp>
      <p:sp>
        <p:nvSpPr>
          <p:cNvPr id="17" name="Rounded Rectangle 16"/>
          <p:cNvSpPr/>
          <p:nvPr/>
        </p:nvSpPr>
        <p:spPr>
          <a:xfrm>
            <a:off x="4362602" y="2834640"/>
            <a:ext cx="3466490" cy="2231136"/>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636922" y="3108960"/>
            <a:ext cx="8229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922" y="3346704"/>
            <a:ext cx="2917850" cy="61975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EXPLANATION, NOT JUST A SCORE</a:t>
            </a:r>
            <a:endParaRPr sz="2000" b="1" i="0">
              <a:solidFill>
                <a:srgbClr val="12365E"/>
              </a:solidFill>
              <a:latin typeface="Calibri"/>
            </a:endParaRPr>
          </a:p>
        </p:txBody>
      </p:sp>
      <p:sp>
        <p:nvSpPr>
          <p:cNvPr id="20" name="TextBox 19"/>
          <p:cNvSpPr txBox="1"/>
          <p:nvPr/>
        </p:nvSpPr>
        <p:spPr>
          <a:xfrm>
            <a:off x="4636922" y="4005072"/>
            <a:ext cx="2917850"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A written narrative of why this account is suspicious, every fact traceable.</a:t>
            </a:r>
            <a:endParaRPr sz="1800" b="0" i="0">
              <a:solidFill>
                <a:srgbClr val="59697D"/>
              </a:solidFill>
              <a:latin typeface="Calibri"/>
            </a:endParaRPr>
          </a:p>
        </p:txBody>
      </p:sp>
      <p:sp>
        <p:nvSpPr>
          <p:cNvPr id="21" name="Rounded Rectangle 20"/>
          <p:cNvSpPr/>
          <p:nvPr/>
        </p:nvSpPr>
        <p:spPr>
          <a:xfrm>
            <a:off x="8103412" y="2834640"/>
            <a:ext cx="3466490" cy="2231136"/>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77732" y="3108960"/>
            <a:ext cx="822960" cy="457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7732" y="3346704"/>
            <a:ext cx="2917850"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REPORT, IN ONE CLICK</a:t>
            </a:r>
            <a:endParaRPr sz="2000" b="1" i="0">
              <a:solidFill>
                <a:srgbClr val="12365E"/>
              </a:solidFill>
              <a:latin typeface="Calibri"/>
            </a:endParaRPr>
          </a:p>
        </p:txBody>
      </p:sp>
      <p:sp>
        <p:nvSpPr>
          <p:cNvPr id="24" name="TextBox 23"/>
          <p:cNvSpPr txBox="1"/>
          <p:nvPr/>
        </p:nvSpPr>
        <p:spPr>
          <a:xfrm>
            <a:off x="8377732" y="4005072"/>
            <a:ext cx="2917850"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An integrity-protected record in FIU-IND structure, generated — not re-keyed.</a:t>
            </a:r>
            <a:endParaRPr sz="1800" b="0" i="0">
              <a:solidFill>
                <a:srgbClr val="59697D"/>
              </a:solidFill>
              <a:latin typeface="Calibri"/>
            </a:endParaRPr>
          </a:p>
        </p:txBody>
      </p:sp>
      <p:sp>
        <p:nvSpPr>
          <p:cNvPr id="25" name="Rounded Rectangle 24"/>
          <p:cNvSpPr/>
          <p:nvPr/>
        </p:nvSpPr>
        <p:spPr>
          <a:xfrm>
            <a:off x="621792" y="5230368"/>
            <a:ext cx="10948111" cy="658368"/>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5381370"/>
            <a:ext cx="10948111" cy="356362"/>
          </a:xfrm>
          <a:prstGeom prst="rect">
            <a:avLst/>
          </a:prstGeom>
          <a:noFill/>
        </p:spPr>
        <p:txBody>
          <a:bodyPr wrap="square" lIns="0" tIns="0" rIns="0" bIns="0">
            <a:spAutoFit/>
          </a:bodyPr>
          <a:lstStyle/>
          <a:p>
            <a:pPr algn="ctr">
              <a:lnSpc>
                <a:spcPct val="100000"/>
              </a:lnSpc>
              <a:spcAft>
                <a:spcPts val="0"/>
              </a:spcAft>
            </a:pPr>
            <a:r>
              <a:rPr sz="2300" b="1" i="0">
                <a:solidFill>
                  <a:srgbClr val="FFFFFF"/>
                </a:solidFill>
                <a:latin typeface="Calibri"/>
              </a:rPr>
              <a:t>A 15–30 minute triage — instead of a half-day evidence hunt.</a:t>
            </a:r>
            <a:endParaRPr sz="2300" b="1" i="0">
              <a:solidFill>
                <a:srgbClr val="FFFFFF"/>
              </a:solidFill>
              <a:latin typeface="Calibri"/>
            </a:endParaRPr>
          </a:p>
        </p:txBody>
      </p:sp>
      <p:sp>
        <p:nvSpPr>
          <p:cNvPr id="27" name="TextBox 26"/>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8" name="TextBox 27"/>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4</a:t>
            </a:r>
            <a:endParaRPr sz="1800" b="1" i="0">
              <a:solidFill>
                <a:srgbClr val="93A2B3"/>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457200"/>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FF8A9C"/>
                </a:solidFill>
                <a:latin typeface="Calibri"/>
              </a:rPr>
              <a:t>LIVE PRODUCT DEMO</a:t>
            </a:r>
            <a:endParaRPr sz="1800" b="1" i="0">
              <a:solidFill>
                <a:srgbClr val="FF8A9C"/>
              </a:solidFill>
              <a:latin typeface="Calibri"/>
            </a:endParaRPr>
          </a:p>
        </p:txBody>
      </p:sp>
      <p:sp>
        <p:nvSpPr>
          <p:cNvPr id="5" name="TextBox 4"/>
          <p:cNvSpPr txBox="1"/>
          <p:nvPr/>
        </p:nvSpPr>
        <p:spPr>
          <a:xfrm>
            <a:off x="621792" y="822960"/>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FFFFFF"/>
                </a:solidFill>
                <a:latin typeface="Calibri"/>
              </a:rPr>
              <a:t>See it work. One alert, start to finish.</a:t>
            </a:r>
            <a:endParaRPr sz="3200" b="1" i="0">
              <a:solidFill>
                <a:srgbClr val="FFFFFF"/>
              </a:solidFill>
              <a:latin typeface="Calibri"/>
            </a:endParaRPr>
          </a:p>
        </p:txBody>
      </p:sp>
      <p:sp>
        <p:nvSpPr>
          <p:cNvPr id="6" name="Rounded Rectangle 5"/>
          <p:cNvSpPr/>
          <p:nvPr/>
        </p:nvSpPr>
        <p:spPr>
          <a:xfrm>
            <a:off x="621792" y="1572768"/>
            <a:ext cx="10948111" cy="4041648"/>
          </a:xfrm>
          <a:prstGeom prst="roundRect">
            <a:avLst>
              <a:gd name="adj" fmla="val 4000"/>
            </a:avLst>
          </a:prstGeom>
          <a:solidFill>
            <a:srgbClr val="0A2240"/>
          </a:solidFill>
          <a:ln w="12700">
            <a:solidFill>
              <a:srgbClr val="2C59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2944368"/>
            <a:ext cx="10948111" cy="836675"/>
          </a:xfrm>
          <a:prstGeom prst="rect">
            <a:avLst/>
          </a:prstGeom>
          <a:noFill/>
        </p:spPr>
        <p:txBody>
          <a:bodyPr wrap="square" lIns="0" tIns="0" rIns="0" bIns="0">
            <a:spAutoFit/>
          </a:bodyPr>
          <a:lstStyle/>
          <a:p>
            <a:pPr algn="ctr">
              <a:lnSpc>
                <a:spcPct val="100000"/>
              </a:lnSpc>
              <a:spcAft>
                <a:spcPts val="0"/>
              </a:spcAft>
            </a:pPr>
            <a:r>
              <a:rPr sz="5400" b="1" i="0">
                <a:solidFill>
                  <a:srgbClr val="FF8A9C"/>
                </a:solidFill>
                <a:latin typeface="Calibri"/>
              </a:rPr>
              <a:t>▶</a:t>
            </a:r>
            <a:endParaRPr sz="5400" b="1" i="0">
              <a:solidFill>
                <a:srgbClr val="FF8A9C"/>
              </a:solidFill>
              <a:latin typeface="Calibri"/>
            </a:endParaRPr>
          </a:p>
        </p:txBody>
      </p:sp>
      <p:sp>
        <p:nvSpPr>
          <p:cNvPr id="8" name="TextBox 7"/>
          <p:cNvSpPr txBox="1"/>
          <p:nvPr/>
        </p:nvSpPr>
        <p:spPr>
          <a:xfrm>
            <a:off x="621792" y="3822191"/>
            <a:ext cx="10948111" cy="340868"/>
          </a:xfrm>
          <a:prstGeom prst="rect">
            <a:avLst/>
          </a:prstGeom>
          <a:noFill/>
        </p:spPr>
        <p:txBody>
          <a:bodyPr wrap="square" lIns="0" tIns="0" rIns="0" bIns="0">
            <a:spAutoFit/>
          </a:bodyPr>
          <a:lstStyle/>
          <a:p>
            <a:pPr algn="ctr">
              <a:lnSpc>
                <a:spcPct val="100000"/>
              </a:lnSpc>
              <a:spcAft>
                <a:spcPts val="0"/>
              </a:spcAft>
            </a:pPr>
            <a:r>
              <a:rPr sz="2200" b="1" i="0">
                <a:solidFill>
                  <a:srgbClr val="FFFFFF"/>
                </a:solidFill>
                <a:latin typeface="Calibri"/>
              </a:rPr>
              <a:t>EMBED THE 2-MINUTE DEMO VIDEO HERE</a:t>
            </a:r>
            <a:endParaRPr sz="2200" b="1" i="0">
              <a:solidFill>
                <a:srgbClr val="FFFFFF"/>
              </a:solidFill>
              <a:latin typeface="Calibri"/>
            </a:endParaRPr>
          </a:p>
        </p:txBody>
      </p:sp>
      <p:sp>
        <p:nvSpPr>
          <p:cNvPr id="9" name="TextBox 8"/>
          <p:cNvSpPr txBox="1"/>
          <p:nvPr/>
        </p:nvSpPr>
        <p:spPr>
          <a:xfrm>
            <a:off x="2084832" y="4315968"/>
            <a:ext cx="8022031" cy="613562"/>
          </a:xfrm>
          <a:prstGeom prst="rect">
            <a:avLst/>
          </a:prstGeom>
          <a:noFill/>
        </p:spPr>
        <p:txBody>
          <a:bodyPr wrap="square" lIns="0" tIns="0" rIns="0" bIns="0">
            <a:spAutoFit/>
          </a:bodyPr>
          <a:lstStyle/>
          <a:p>
            <a:pPr algn="ctr">
              <a:lnSpc>
                <a:spcPct val="110000"/>
              </a:lnSpc>
              <a:spcAft>
                <a:spcPts val="0"/>
              </a:spcAft>
            </a:pPr>
            <a:r>
              <a:rPr sz="1800" b="0" i="0">
                <a:solidFill>
                  <a:srgbClr val="A9C0DA"/>
                </a:solidFill>
                <a:latin typeface="Calibri"/>
              </a:rPr>
              <a:t>Insert → Video → This Device. Embed the file, never link it — the venue may have no internet.</a:t>
            </a:r>
            <a:endParaRPr sz="1800" b="0" i="0">
              <a:solidFill>
                <a:srgbClr val="A9C0DA"/>
              </a:solidFill>
              <a:latin typeface="Calibri"/>
            </a:endParaRPr>
          </a:p>
        </p:txBody>
      </p:sp>
      <p:sp>
        <p:nvSpPr>
          <p:cNvPr id="10" name="TextBox 9"/>
          <p:cNvSpPr txBox="1"/>
          <p:nvPr/>
        </p:nvSpPr>
        <p:spPr>
          <a:xfrm>
            <a:off x="621792" y="5797296"/>
            <a:ext cx="10948111" cy="294386"/>
          </a:xfrm>
          <a:prstGeom prst="rect">
            <a:avLst/>
          </a:prstGeom>
          <a:noFill/>
        </p:spPr>
        <p:txBody>
          <a:bodyPr wrap="square" lIns="0" tIns="0" rIns="0" bIns="0">
            <a:spAutoFit/>
          </a:bodyPr>
          <a:lstStyle/>
          <a:p>
            <a:pPr algn="ctr">
              <a:lnSpc>
                <a:spcPct val="100000"/>
              </a:lnSpc>
              <a:spcAft>
                <a:spcPts val="0"/>
              </a:spcAft>
            </a:pPr>
            <a:r>
              <a:rPr sz="1900" b="1" i="0">
                <a:solidFill>
                  <a:srgbClr val="A9C0DA"/>
                </a:solidFill>
                <a:latin typeface="Calibri"/>
              </a:rPr>
              <a:t>Detect  ›  Prioritise  ›  Investigate  ›  Trace  ›  Explain  ›  Recommend  ›  Report  ›  Learn</a:t>
            </a:r>
            <a:endParaRPr sz="1900" b="1" i="0">
              <a:solidFill>
                <a:srgbClr val="A9C0DA"/>
              </a:solidFill>
              <a:latin typeface="Calibri"/>
            </a:endParaRPr>
          </a:p>
        </p:txBody>
      </p:sp>
      <p:sp>
        <p:nvSpPr>
          <p:cNvPr id="11" name="TextBox 10"/>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5E7C9E"/>
                </a:solidFill>
                <a:latin typeface="Calibri"/>
              </a:rPr>
              <a:t>5</a:t>
            </a:r>
            <a:endParaRPr sz="1800" b="1" i="0">
              <a:solidFill>
                <a:srgbClr val="5E7C9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WHY THIS IS DIFFERENT</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A transaction is a row. Crime is a network.</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5309463" cy="329184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38528"/>
            <a:ext cx="4687671" cy="309879"/>
          </a:xfrm>
          <a:prstGeom prst="rect">
            <a:avLst/>
          </a:prstGeom>
          <a:noFill/>
        </p:spPr>
        <p:txBody>
          <a:bodyPr wrap="square" lIns="0" tIns="0" rIns="0" bIns="0">
            <a:spAutoFit/>
          </a:bodyPr>
          <a:lstStyle/>
          <a:p>
            <a:pPr algn="l">
              <a:lnSpc>
                <a:spcPct val="100000"/>
              </a:lnSpc>
              <a:spcAft>
                <a:spcPts val="0"/>
              </a:spcAft>
            </a:pPr>
            <a:r>
              <a:rPr sz="2000" b="1" i="0">
                <a:solidFill>
                  <a:srgbClr val="59697D"/>
                </a:solidFill>
                <a:latin typeface="Calibri"/>
              </a:rPr>
              <a:t>TRADITIONAL VIEW</a:t>
            </a:r>
            <a:endParaRPr sz="2000" b="1" i="0">
              <a:solidFill>
                <a:srgbClr val="59697D"/>
              </a:solidFill>
              <a:latin typeface="Calibri"/>
            </a:endParaRPr>
          </a:p>
        </p:txBody>
      </p:sp>
      <p:sp>
        <p:nvSpPr>
          <p:cNvPr id="8" name="TextBox 7"/>
          <p:cNvSpPr txBox="1"/>
          <p:nvPr/>
        </p:nvSpPr>
        <p:spPr>
          <a:xfrm>
            <a:off x="932688" y="2432304"/>
            <a:ext cx="4687671" cy="526795"/>
          </a:xfrm>
          <a:prstGeom prst="rect">
            <a:avLst/>
          </a:prstGeom>
          <a:noFill/>
        </p:spPr>
        <p:txBody>
          <a:bodyPr wrap="square" lIns="0" tIns="0" rIns="0" bIns="0">
            <a:spAutoFit/>
          </a:bodyPr>
          <a:lstStyle/>
          <a:p>
            <a:pPr algn="ctr">
              <a:lnSpc>
                <a:spcPct val="100000"/>
              </a:lnSpc>
              <a:spcAft>
                <a:spcPts val="0"/>
              </a:spcAft>
            </a:pPr>
            <a:r>
              <a:rPr sz="3400" b="1" i="0">
                <a:solidFill>
                  <a:srgbClr val="59697D"/>
                </a:solidFill>
                <a:latin typeface="Calibri"/>
              </a:rPr>
              <a:t>A → B → C → D</a:t>
            </a:r>
            <a:endParaRPr sz="3400" b="1" i="0">
              <a:solidFill>
                <a:srgbClr val="59697D"/>
              </a:solidFill>
              <a:latin typeface="Calibri"/>
            </a:endParaRPr>
          </a:p>
        </p:txBody>
      </p:sp>
      <p:sp>
        <p:nvSpPr>
          <p:cNvPr id="9" name="TextBox 8"/>
          <p:cNvSpPr txBox="1"/>
          <p:nvPr/>
        </p:nvSpPr>
        <p:spPr>
          <a:xfrm>
            <a:off x="932688" y="3255264"/>
            <a:ext cx="4687671" cy="1001405"/>
          </a:xfrm>
          <a:prstGeom prst="rect">
            <a:avLst/>
          </a:prstGeom>
          <a:noFill/>
        </p:spPr>
        <p:txBody>
          <a:bodyPr wrap="square" lIns="0" tIns="0" rIns="0" bIns="0">
            <a:spAutoFit/>
          </a:bodyPr>
          <a:lstStyle/>
          <a:p>
            <a:pPr algn="l">
              <a:lnSpc>
                <a:spcPct val="102000"/>
              </a:lnSpc>
              <a:spcAft>
                <a:spcPts val="395"/>
              </a:spcAft>
            </a:pPr>
            <a:r>
              <a:rPr sz="1900" b="0" i="0">
                <a:solidFill>
                  <a:srgbClr val="59697D"/>
                </a:solidFill>
                <a:latin typeface="Calibri"/>
              </a:rPr>
              <a:t>–  Four transactions</a:t>
            </a:r>
            <a:endParaRPr sz="1900" b="0" i="0">
              <a:solidFill>
                <a:srgbClr val="59697D"/>
              </a:solidFill>
              <a:latin typeface="Calibri"/>
            </a:endParaRPr>
          </a:p>
          <a:p>
            <a:pPr algn="l">
              <a:lnSpc>
                <a:spcPct val="102000"/>
              </a:lnSpc>
              <a:spcAft>
                <a:spcPts val="395"/>
              </a:spcAft>
            </a:pPr>
            <a:r>
              <a:rPr sz="1900" b="0" i="0">
                <a:solidFill>
                  <a:srgbClr val="59697D"/>
                </a:solidFill>
                <a:latin typeface="Calibri"/>
              </a:rPr>
              <a:t>–  Four rows, four separate alerts</a:t>
            </a:r>
            <a:endParaRPr sz="1900" b="0" i="0">
              <a:solidFill>
                <a:srgbClr val="59697D"/>
              </a:solidFill>
              <a:latin typeface="Calibri"/>
            </a:endParaRPr>
          </a:p>
          <a:p>
            <a:pPr algn="l">
              <a:lnSpc>
                <a:spcPct val="102000"/>
              </a:lnSpc>
              <a:spcAft>
                <a:spcPts val="395"/>
              </a:spcAft>
            </a:pPr>
            <a:r>
              <a:rPr sz="1900" b="0" i="0">
                <a:solidFill>
                  <a:srgbClr val="59697D"/>
                </a:solidFill>
                <a:latin typeface="Calibri"/>
              </a:rPr>
              <a:t>–  No context, no connection</a:t>
            </a:r>
            <a:endParaRPr sz="1900" b="0" i="0">
              <a:solidFill>
                <a:srgbClr val="59697D"/>
              </a:solidFill>
              <a:latin typeface="Calibri"/>
            </a:endParaRPr>
          </a:p>
        </p:txBody>
      </p:sp>
      <p:sp>
        <p:nvSpPr>
          <p:cNvPr id="10" name="Rounded Rectangle 9"/>
          <p:cNvSpPr/>
          <p:nvPr/>
        </p:nvSpPr>
        <p:spPr>
          <a:xfrm>
            <a:off x="6260439" y="1700784"/>
            <a:ext cx="5309463" cy="3291840"/>
          </a:xfrm>
          <a:prstGeom prst="roundRect">
            <a:avLst>
              <a:gd name="adj" fmla="val 4000"/>
            </a:avLst>
          </a:prstGeom>
          <a:solidFill>
            <a:srgbClr val="EBF1F7"/>
          </a:solidFill>
          <a:ln w="12700">
            <a:solidFill>
              <a:srgbClr val="1236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1335" y="1938528"/>
            <a:ext cx="4687671" cy="309879"/>
          </a:xfrm>
          <a:prstGeom prst="rect">
            <a:avLst/>
          </a:prstGeom>
          <a:noFill/>
        </p:spPr>
        <p:txBody>
          <a:bodyPr wrap="square" lIns="0" tIns="0" rIns="0" bIns="0">
            <a:spAutoFit/>
          </a:bodyPr>
          <a:lstStyle/>
          <a:p>
            <a:pPr algn="l">
              <a:lnSpc>
                <a:spcPct val="100000"/>
              </a:lnSpc>
              <a:spcAft>
                <a:spcPts val="0"/>
              </a:spcAft>
            </a:pPr>
            <a:r>
              <a:rPr sz="2000" b="1" i="0">
                <a:solidFill>
                  <a:srgbClr val="C8102E"/>
                </a:solidFill>
                <a:latin typeface="Calibri"/>
              </a:rPr>
              <a:t>THE TRACEX VIEW</a:t>
            </a:r>
            <a:endParaRPr sz="2000" b="1" i="0">
              <a:solidFill>
                <a:srgbClr val="C8102E"/>
              </a:solidFill>
              <a:latin typeface="Calibri"/>
            </a:endParaRPr>
          </a:p>
        </p:txBody>
      </p:sp>
      <p:sp>
        <p:nvSpPr>
          <p:cNvPr id="12" name="TextBox 11"/>
          <p:cNvSpPr txBox="1"/>
          <p:nvPr/>
        </p:nvSpPr>
        <p:spPr>
          <a:xfrm>
            <a:off x="6571335" y="2432304"/>
            <a:ext cx="4687671"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A → B → C → D → A</a:t>
            </a:r>
            <a:endParaRPr sz="3400" b="1" i="0">
              <a:solidFill>
                <a:srgbClr val="12365E"/>
              </a:solidFill>
              <a:latin typeface="Calibri"/>
            </a:endParaRPr>
          </a:p>
        </p:txBody>
      </p:sp>
      <p:sp>
        <p:nvSpPr>
          <p:cNvPr id="13" name="TextBox 12"/>
          <p:cNvSpPr txBox="1"/>
          <p:nvPr/>
        </p:nvSpPr>
        <p:spPr>
          <a:xfrm>
            <a:off x="6571335" y="3255264"/>
            <a:ext cx="4687671"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Layering — funds moving through multiple hops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Circular flows — money returning to origin</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Mule networks — accounts as intermediaries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Hidden links — shared PAN, zero transactions</a:t>
            </a:r>
            <a:endParaRPr sz="1800" b="0" i="0">
              <a:solidFill>
                <a:srgbClr val="0D1B2A"/>
              </a:solidFill>
              <a:latin typeface="Calibri"/>
            </a:endParaRPr>
          </a:p>
        </p:txBody>
      </p:sp>
      <p:sp>
        <p:nvSpPr>
          <p:cNvPr id="14" name="Rounded Rectangle 13"/>
          <p:cNvSpPr/>
          <p:nvPr/>
        </p:nvSpPr>
        <p:spPr>
          <a:xfrm>
            <a:off x="621792" y="5212080"/>
            <a:ext cx="10948111" cy="658368"/>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370830"/>
            <a:ext cx="10948111" cy="340868"/>
          </a:xfrm>
          <a:prstGeom prst="rect">
            <a:avLst/>
          </a:prstGeom>
          <a:noFill/>
        </p:spPr>
        <p:txBody>
          <a:bodyPr wrap="square" lIns="0" tIns="0" rIns="0" bIns="0">
            <a:spAutoFit/>
          </a:bodyPr>
          <a:lstStyle/>
          <a:p>
            <a:pPr algn="ctr">
              <a:lnSpc>
                <a:spcPct val="100000"/>
              </a:lnSpc>
              <a:spcAft>
                <a:spcPts val="0"/>
              </a:spcAft>
            </a:pPr>
            <a:r>
              <a:rPr sz="2200" b="1" i="0">
                <a:solidFill>
                  <a:srgbClr val="FFFFFF"/>
                </a:solidFill>
                <a:latin typeface="Calibri"/>
              </a:rPr>
              <a:t>The suspicious transaction is rarely the crime. The network is the evidence.</a:t>
            </a:r>
            <a:endParaRPr sz="2200" b="1" i="0">
              <a:solidFill>
                <a:srgbClr val="FFFFFF"/>
              </a:solidFill>
              <a:latin typeface="Calibri"/>
            </a:endParaRPr>
          </a:p>
        </p:txBody>
      </p:sp>
      <p:sp>
        <p:nvSpPr>
          <p:cNvPr id="16" name="TextBox 15"/>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17" name="TextBox 16"/>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6</a:t>
            </a:r>
            <a:endParaRPr sz="1800" b="1" i="0">
              <a:solidFill>
                <a:srgbClr val="93A2B3"/>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TRUSTED AI</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AI that accelerates investigators — and never decides.</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466490" cy="312724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700784"/>
            <a:ext cx="3466490" cy="822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2881274" cy="340868"/>
          </a:xfrm>
          <a:prstGeom prst="rect">
            <a:avLst/>
          </a:prstGeom>
          <a:noFill/>
        </p:spPr>
        <p:txBody>
          <a:bodyPr wrap="square" lIns="0" tIns="0" rIns="0" bIns="0">
            <a:spAutoFit/>
          </a:bodyPr>
          <a:lstStyle/>
          <a:p>
            <a:pPr algn="l">
              <a:lnSpc>
                <a:spcPct val="100000"/>
              </a:lnSpc>
              <a:spcAft>
                <a:spcPts val="0"/>
              </a:spcAft>
            </a:pPr>
            <a:r>
              <a:rPr sz="2200" b="1" i="0">
                <a:solidFill>
                  <a:srgbClr val="C8102E"/>
                </a:solidFill>
                <a:latin typeface="Calibri"/>
              </a:rPr>
              <a:t>GROUNDED</a:t>
            </a:r>
            <a:endParaRPr sz="2200" b="1" i="0">
              <a:solidFill>
                <a:srgbClr val="C8102E"/>
              </a:solidFill>
              <a:latin typeface="Calibri"/>
            </a:endParaRPr>
          </a:p>
        </p:txBody>
      </p:sp>
      <p:sp>
        <p:nvSpPr>
          <p:cNvPr id="9" name="TextBox 8"/>
          <p:cNvSpPr txBox="1"/>
          <p:nvPr/>
        </p:nvSpPr>
        <p:spPr>
          <a:xfrm>
            <a:off x="914400" y="2505456"/>
            <a:ext cx="2881274" cy="1249436"/>
          </a:xfrm>
          <a:prstGeom prst="rect">
            <a:avLst/>
          </a:prstGeom>
          <a:noFill/>
        </p:spPr>
        <p:txBody>
          <a:bodyPr wrap="square" lIns="0" tIns="0" rIns="0" bIns="0">
            <a:spAutoFit/>
          </a:bodyPr>
          <a:lstStyle/>
          <a:p>
            <a:pPr algn="l">
              <a:lnSpc>
                <a:spcPct val="112000"/>
              </a:lnSpc>
              <a:spcAft>
                <a:spcPts val="0"/>
              </a:spcAft>
            </a:pPr>
            <a:r>
              <a:rPr sz="1800" b="0" i="0">
                <a:solidFill>
                  <a:srgbClr val="0D1B2A"/>
                </a:solidFill>
                <a:latin typeface="Calibri"/>
              </a:rPr>
              <a:t>The AI can only state facts our system computed. A validator drops any sentence that doesn't cite one.</a:t>
            </a:r>
            <a:endParaRPr sz="1800" b="0" i="0">
              <a:solidFill>
                <a:srgbClr val="0D1B2A"/>
              </a:solidFill>
              <a:latin typeface="Calibri"/>
            </a:endParaRPr>
          </a:p>
        </p:txBody>
      </p:sp>
      <p:sp>
        <p:nvSpPr>
          <p:cNvPr id="10" name="Rectangle 9"/>
          <p:cNvSpPr/>
          <p:nvPr/>
        </p:nvSpPr>
        <p:spPr>
          <a:xfrm>
            <a:off x="914400" y="3931920"/>
            <a:ext cx="2881274"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2881274"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No fact, no claim.</a:t>
            </a:r>
            <a:endParaRPr sz="1900" b="1" i="0">
              <a:solidFill>
                <a:srgbClr val="12365E"/>
              </a:solidFill>
              <a:latin typeface="Calibri"/>
            </a:endParaRPr>
          </a:p>
        </p:txBody>
      </p:sp>
      <p:sp>
        <p:nvSpPr>
          <p:cNvPr id="12" name="Rounded Rectangle 11"/>
          <p:cNvSpPr/>
          <p:nvPr/>
        </p:nvSpPr>
        <p:spPr>
          <a:xfrm>
            <a:off x="4362602" y="1700784"/>
            <a:ext cx="3466490" cy="312724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2602" y="1700784"/>
            <a:ext cx="3466490" cy="82296"/>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5210" y="2011680"/>
            <a:ext cx="2881274" cy="340868"/>
          </a:xfrm>
          <a:prstGeom prst="rect">
            <a:avLst/>
          </a:prstGeom>
          <a:noFill/>
        </p:spPr>
        <p:txBody>
          <a:bodyPr wrap="square" lIns="0" tIns="0" rIns="0" bIns="0">
            <a:spAutoFit/>
          </a:bodyPr>
          <a:lstStyle/>
          <a:p>
            <a:pPr algn="l">
              <a:lnSpc>
                <a:spcPct val="100000"/>
              </a:lnSpc>
              <a:spcAft>
                <a:spcPts val="0"/>
              </a:spcAft>
            </a:pPr>
            <a:r>
              <a:rPr sz="2200" b="1" i="0">
                <a:solidFill>
                  <a:srgbClr val="12365E"/>
                </a:solidFill>
                <a:latin typeface="Calibri"/>
              </a:rPr>
              <a:t>BLIND TO PII</a:t>
            </a:r>
            <a:endParaRPr sz="2200" b="1" i="0">
              <a:solidFill>
                <a:srgbClr val="12365E"/>
              </a:solidFill>
              <a:latin typeface="Calibri"/>
            </a:endParaRPr>
          </a:p>
        </p:txBody>
      </p:sp>
      <p:sp>
        <p:nvSpPr>
          <p:cNvPr id="15" name="TextBox 14"/>
          <p:cNvSpPr txBox="1"/>
          <p:nvPr/>
        </p:nvSpPr>
        <p:spPr>
          <a:xfrm>
            <a:off x="4655210" y="2505456"/>
            <a:ext cx="2881274" cy="1249436"/>
          </a:xfrm>
          <a:prstGeom prst="rect">
            <a:avLst/>
          </a:prstGeom>
          <a:noFill/>
        </p:spPr>
        <p:txBody>
          <a:bodyPr wrap="square" lIns="0" tIns="0" rIns="0" bIns="0">
            <a:spAutoFit/>
          </a:bodyPr>
          <a:lstStyle/>
          <a:p>
            <a:pPr algn="l">
              <a:lnSpc>
                <a:spcPct val="112000"/>
              </a:lnSpc>
              <a:spcAft>
                <a:spcPts val="0"/>
              </a:spcAft>
            </a:pPr>
            <a:r>
              <a:rPr sz="1800" b="0" i="0">
                <a:solidFill>
                  <a:srgbClr val="0D1B2A"/>
                </a:solidFill>
                <a:latin typeface="Calibri"/>
              </a:rPr>
              <a:t>Customer names never reach the model. Not de-identified — absent, behind a fail-closed gate.</a:t>
            </a:r>
            <a:endParaRPr sz="1800" b="0" i="0">
              <a:solidFill>
                <a:srgbClr val="0D1B2A"/>
              </a:solidFill>
              <a:latin typeface="Calibri"/>
            </a:endParaRPr>
          </a:p>
        </p:txBody>
      </p:sp>
      <p:sp>
        <p:nvSpPr>
          <p:cNvPr id="16" name="Rectangle 15"/>
          <p:cNvSpPr/>
          <p:nvPr/>
        </p:nvSpPr>
        <p:spPr>
          <a:xfrm>
            <a:off x="4655210" y="3931920"/>
            <a:ext cx="2881274"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55210" y="4114800"/>
            <a:ext cx="2881274" cy="588772"/>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Enforced in code, not policy.</a:t>
            </a:r>
            <a:endParaRPr sz="1900" b="1" i="0">
              <a:solidFill>
                <a:srgbClr val="12365E"/>
              </a:solidFill>
              <a:latin typeface="Calibri"/>
            </a:endParaRPr>
          </a:p>
        </p:txBody>
      </p:sp>
      <p:sp>
        <p:nvSpPr>
          <p:cNvPr id="18" name="Rounded Rectangle 17"/>
          <p:cNvSpPr/>
          <p:nvPr/>
        </p:nvSpPr>
        <p:spPr>
          <a:xfrm>
            <a:off x="8103412" y="1700784"/>
            <a:ext cx="3466490" cy="312724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3412" y="1700784"/>
            <a:ext cx="3466490" cy="82296"/>
          </a:xfrm>
          <a:prstGeom prst="rect">
            <a:avLst/>
          </a:prstGeom>
          <a:solidFill>
            <a:srgbClr val="0E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6020" y="2011680"/>
            <a:ext cx="2881274" cy="340868"/>
          </a:xfrm>
          <a:prstGeom prst="rect">
            <a:avLst/>
          </a:prstGeom>
          <a:noFill/>
        </p:spPr>
        <p:txBody>
          <a:bodyPr wrap="square" lIns="0" tIns="0" rIns="0" bIns="0">
            <a:spAutoFit/>
          </a:bodyPr>
          <a:lstStyle/>
          <a:p>
            <a:pPr algn="l">
              <a:lnSpc>
                <a:spcPct val="100000"/>
              </a:lnSpc>
              <a:spcAft>
                <a:spcPts val="0"/>
              </a:spcAft>
            </a:pPr>
            <a:r>
              <a:rPr sz="2200" b="1" i="0">
                <a:solidFill>
                  <a:srgbClr val="0E7C74"/>
                </a:solidFill>
                <a:latin typeface="Calibri"/>
              </a:rPr>
              <a:t>ACCOUNTABLE</a:t>
            </a:r>
            <a:endParaRPr sz="2200" b="1" i="0">
              <a:solidFill>
                <a:srgbClr val="0E7C74"/>
              </a:solidFill>
              <a:latin typeface="Calibri"/>
            </a:endParaRPr>
          </a:p>
        </p:txBody>
      </p:sp>
      <p:sp>
        <p:nvSpPr>
          <p:cNvPr id="21" name="TextBox 20"/>
          <p:cNvSpPr txBox="1"/>
          <p:nvPr/>
        </p:nvSpPr>
        <p:spPr>
          <a:xfrm>
            <a:off x="8396020" y="2505456"/>
            <a:ext cx="2881274" cy="937077"/>
          </a:xfrm>
          <a:prstGeom prst="rect">
            <a:avLst/>
          </a:prstGeom>
          <a:noFill/>
        </p:spPr>
        <p:txBody>
          <a:bodyPr wrap="square" lIns="0" tIns="0" rIns="0" bIns="0">
            <a:spAutoFit/>
          </a:bodyPr>
          <a:lstStyle/>
          <a:p>
            <a:pPr algn="l">
              <a:lnSpc>
                <a:spcPct val="112000"/>
              </a:lnSpc>
              <a:spcAft>
                <a:spcPts val="0"/>
              </a:spcAft>
            </a:pPr>
            <a:r>
              <a:rPr sz="1800" b="0" i="0">
                <a:solidFill>
                  <a:srgbClr val="0D1B2A"/>
                </a:solidFill>
                <a:latin typeface="Calibri"/>
              </a:rPr>
              <a:t>Every investigator action and AI interaction writes to a tamper-evident audit chain.</a:t>
            </a:r>
            <a:endParaRPr sz="1800" b="0" i="0">
              <a:solidFill>
                <a:srgbClr val="0D1B2A"/>
              </a:solidFill>
              <a:latin typeface="Calibri"/>
            </a:endParaRPr>
          </a:p>
        </p:txBody>
      </p:sp>
      <p:sp>
        <p:nvSpPr>
          <p:cNvPr id="22" name="Rectangle 21"/>
          <p:cNvSpPr/>
          <p:nvPr/>
        </p:nvSpPr>
        <p:spPr>
          <a:xfrm>
            <a:off x="8396020" y="3931920"/>
            <a:ext cx="2881274"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96020" y="4114800"/>
            <a:ext cx="2881274" cy="588772"/>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The AI recommends. A human decides.</a:t>
            </a:r>
            <a:endParaRPr sz="1900" b="1" i="0">
              <a:solidFill>
                <a:srgbClr val="12365E"/>
              </a:solidFill>
              <a:latin typeface="Calibri"/>
            </a:endParaRPr>
          </a:p>
        </p:txBody>
      </p:sp>
      <p:sp>
        <p:nvSpPr>
          <p:cNvPr id="24" name="Rounded Rectangle 23"/>
          <p:cNvSpPr/>
          <p:nvPr/>
        </p:nvSpPr>
        <p:spPr>
          <a:xfrm>
            <a:off x="621792" y="4937760"/>
            <a:ext cx="10948111" cy="877824"/>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5084064"/>
            <a:ext cx="10326319"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WHAT THIS MEANS FOR THE BANK</a:t>
            </a:r>
            <a:endParaRPr sz="1800" b="1" i="0">
              <a:solidFill>
                <a:srgbClr val="C8102E"/>
              </a:solidFill>
              <a:latin typeface="Calibri"/>
            </a:endParaRPr>
          </a:p>
        </p:txBody>
      </p:sp>
      <p:sp>
        <p:nvSpPr>
          <p:cNvPr id="26" name="TextBox 25"/>
          <p:cNvSpPr txBox="1"/>
          <p:nvPr/>
        </p:nvSpPr>
        <p:spPr>
          <a:xfrm>
            <a:off x="932688" y="5413248"/>
            <a:ext cx="10326319"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Higher throughput  ·  Standardised case files  ·  A trail that survives RBI inspection</a:t>
            </a:r>
            <a:endParaRPr sz="1900" b="1" i="0">
              <a:solidFill>
                <a:srgbClr val="12365E"/>
              </a:solidFill>
              <a:latin typeface="Calibri"/>
            </a:endParaRPr>
          </a:p>
        </p:txBody>
      </p:sp>
      <p:sp>
        <p:nvSpPr>
          <p:cNvPr id="27" name="TextBox 26"/>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8" name="TextBox 27"/>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7</a:t>
            </a:r>
            <a:endParaRPr sz="1800" b="1" i="0">
              <a:solidFill>
                <a:srgbClr val="93A2B3"/>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SECURITY, PRIVACY &amp; COMPLIANCE</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Built for the regulator — not just for the demo.</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5336895" cy="217627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700784"/>
            <a:ext cx="68580" cy="21762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883664"/>
            <a:ext cx="4824831"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DPDP ACT 2023 — BY DESIGN</a:t>
            </a:r>
            <a:endParaRPr sz="1900" b="1" i="0">
              <a:solidFill>
                <a:srgbClr val="C8102E"/>
              </a:solidFill>
              <a:latin typeface="Calibri"/>
            </a:endParaRPr>
          </a:p>
        </p:txBody>
      </p:sp>
      <p:sp>
        <p:nvSpPr>
          <p:cNvPr id="9" name="TextBox 8"/>
          <p:cNvSpPr txBox="1"/>
          <p:nvPr/>
        </p:nvSpPr>
        <p:spPr>
          <a:xfrm>
            <a:off x="896112" y="2286000"/>
            <a:ext cx="4806543"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Runs inside your perimeter — you stay fiduciary</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Legal-obligation ground covers AML (PMLA 2002)</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The AI layer stores identifiers, never names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PMLA's 5-year retention overrides erasure</a:t>
            </a:r>
            <a:endParaRPr sz="1800" b="0" i="0">
              <a:solidFill>
                <a:srgbClr val="0D1B2A"/>
              </a:solidFill>
              <a:latin typeface="Calibri"/>
            </a:endParaRPr>
          </a:p>
        </p:txBody>
      </p:sp>
      <p:sp>
        <p:nvSpPr>
          <p:cNvPr id="10" name="Rounded Rectangle 9"/>
          <p:cNvSpPr/>
          <p:nvPr/>
        </p:nvSpPr>
        <p:spPr>
          <a:xfrm>
            <a:off x="6233007" y="1700784"/>
            <a:ext cx="5336895" cy="217627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3007" y="1700784"/>
            <a:ext cx="68580" cy="2176272"/>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07327" y="1883664"/>
            <a:ext cx="4824831"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PMLA · RBI · FATF</a:t>
            </a:r>
            <a:endParaRPr sz="1900" b="1" i="0">
              <a:solidFill>
                <a:srgbClr val="12365E"/>
              </a:solidFill>
              <a:latin typeface="Calibri"/>
            </a:endParaRPr>
          </a:p>
        </p:txBody>
      </p:sp>
      <p:sp>
        <p:nvSpPr>
          <p:cNvPr id="13" name="TextBox 12"/>
          <p:cNvSpPr txBox="1"/>
          <p:nvPr/>
        </p:nvSpPr>
        <p:spPr>
          <a:xfrm>
            <a:off x="6507327" y="2286000"/>
            <a:ext cx="4806543"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5-year retention: transactions, cases, STRs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Detectors mapped to FATF Recs. 10 and 20</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Dormancy and structuring follow RBI guidance</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STR output follows FIU-IND structure</a:t>
            </a:r>
            <a:endParaRPr sz="1800" b="0" i="0">
              <a:solidFill>
                <a:srgbClr val="0D1B2A"/>
              </a:solidFill>
              <a:latin typeface="Calibri"/>
            </a:endParaRPr>
          </a:p>
        </p:txBody>
      </p:sp>
      <p:sp>
        <p:nvSpPr>
          <p:cNvPr id="14" name="Rounded Rectangle 13"/>
          <p:cNvSpPr/>
          <p:nvPr/>
        </p:nvSpPr>
        <p:spPr>
          <a:xfrm>
            <a:off x="621792" y="4114800"/>
            <a:ext cx="5336895" cy="217627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 y="4114800"/>
            <a:ext cx="68580" cy="2176272"/>
          </a:xfrm>
          <a:prstGeom prst="rect">
            <a:avLst/>
          </a:prstGeom>
          <a:solidFill>
            <a:srgbClr val="0E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4297680"/>
            <a:ext cx="4824831" cy="294386"/>
          </a:xfrm>
          <a:prstGeom prst="rect">
            <a:avLst/>
          </a:prstGeom>
          <a:noFill/>
        </p:spPr>
        <p:txBody>
          <a:bodyPr wrap="square" lIns="0" tIns="0" rIns="0" bIns="0">
            <a:spAutoFit/>
          </a:bodyPr>
          <a:lstStyle/>
          <a:p>
            <a:pPr algn="l">
              <a:lnSpc>
                <a:spcPct val="100000"/>
              </a:lnSpc>
              <a:spcAft>
                <a:spcPts val="0"/>
              </a:spcAft>
            </a:pPr>
            <a:r>
              <a:rPr sz="1900" b="1" i="0">
                <a:solidFill>
                  <a:srgbClr val="0E7C74"/>
                </a:solidFill>
                <a:latin typeface="Calibri"/>
              </a:rPr>
              <a:t>ACCESS &amp; DATA-LEAKAGE CONTROL</a:t>
            </a:r>
            <a:endParaRPr sz="1900" b="1" i="0">
              <a:solidFill>
                <a:srgbClr val="0E7C74"/>
              </a:solidFill>
              <a:latin typeface="Calibri"/>
            </a:endParaRPr>
          </a:p>
        </p:txBody>
      </p:sp>
      <p:sp>
        <p:nvSpPr>
          <p:cNvPr id="17" name="TextBox 16"/>
          <p:cNvSpPr txBox="1"/>
          <p:nvPr/>
        </p:nvSpPr>
        <p:spPr>
          <a:xfrm>
            <a:off x="896112" y="4700016"/>
            <a:ext cx="4806543"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Two roles, enforced server-side on every route</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Case-scoped visibility — never the whole ledger</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Identifiers tokenised with a separate key</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Self-host the model and nothing leaves your DC</a:t>
            </a:r>
            <a:endParaRPr sz="1800" b="0" i="0">
              <a:solidFill>
                <a:srgbClr val="0D1B2A"/>
              </a:solidFill>
              <a:latin typeface="Calibri"/>
            </a:endParaRPr>
          </a:p>
        </p:txBody>
      </p:sp>
      <p:sp>
        <p:nvSpPr>
          <p:cNvPr id="18" name="Rounded Rectangle 17"/>
          <p:cNvSpPr/>
          <p:nvPr/>
        </p:nvSpPr>
        <p:spPr>
          <a:xfrm>
            <a:off x="6233007" y="4114800"/>
            <a:ext cx="5336895" cy="217627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4114800"/>
            <a:ext cx="68580" cy="2176272"/>
          </a:xfrm>
          <a:prstGeom prst="rect">
            <a:avLst/>
          </a:prstGeom>
          <a:solidFill>
            <a:srgbClr val="8A53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07327" y="4297680"/>
            <a:ext cx="4824831" cy="294386"/>
          </a:xfrm>
          <a:prstGeom prst="rect">
            <a:avLst/>
          </a:prstGeom>
          <a:noFill/>
        </p:spPr>
        <p:txBody>
          <a:bodyPr wrap="square" lIns="0" tIns="0" rIns="0" bIns="0">
            <a:spAutoFit/>
          </a:bodyPr>
          <a:lstStyle/>
          <a:p>
            <a:pPr algn="l">
              <a:lnSpc>
                <a:spcPct val="100000"/>
              </a:lnSpc>
              <a:spcAft>
                <a:spcPts val="0"/>
              </a:spcAft>
            </a:pPr>
            <a:r>
              <a:rPr sz="1900" b="1" i="0">
                <a:solidFill>
                  <a:srgbClr val="8A5314"/>
                </a:solidFill>
                <a:latin typeface="Calibri"/>
              </a:rPr>
              <a:t>CYBER POSTURE</a:t>
            </a:r>
            <a:endParaRPr sz="1900" b="1" i="0">
              <a:solidFill>
                <a:srgbClr val="8A5314"/>
              </a:solidFill>
              <a:latin typeface="Calibri"/>
            </a:endParaRPr>
          </a:p>
        </p:txBody>
      </p:sp>
      <p:sp>
        <p:nvSpPr>
          <p:cNvPr id="21" name="TextBox 20"/>
          <p:cNvSpPr txBox="1"/>
          <p:nvPr/>
        </p:nvSpPr>
        <p:spPr>
          <a:xfrm>
            <a:off x="6507327" y="4700016"/>
            <a:ext cx="4806543"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SHA-256 audit chain across 693,102 rows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Non-root, read-only containers, caps dropped</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Zero secrets in code — injected from your vault</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CI gate: 726 tests, 97.7% coverage, no bypass</a:t>
            </a:r>
            <a:endParaRPr sz="1800" b="0" i="0">
              <a:solidFill>
                <a:srgbClr val="0D1B2A"/>
              </a:solidFill>
              <a:latin typeface="Calibri"/>
            </a:endParaRPr>
          </a:p>
        </p:txBody>
      </p:sp>
      <p:sp>
        <p:nvSpPr>
          <p:cNvPr id="22" name="TextBox 21"/>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3" name="TextBox 22"/>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8</a:t>
            </a:r>
            <a:endParaRPr sz="1800" b="1" i="0">
              <a:solidFill>
                <a:srgbClr val="93A2B3"/>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SCALE &amp; DEPLOYMENT</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100,000 transactions a day? That's three minutes.</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515258" cy="1371600"/>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838706"/>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5.08 M</a:t>
            </a:r>
            <a:endParaRPr sz="3000" b="1" i="0">
              <a:solidFill>
                <a:srgbClr val="12365E"/>
              </a:solidFill>
              <a:latin typeface="Calibri"/>
            </a:endParaRPr>
          </a:p>
        </p:txBody>
      </p:sp>
      <p:sp>
        <p:nvSpPr>
          <p:cNvPr id="8" name="TextBox 7"/>
          <p:cNvSpPr txBox="1"/>
          <p:nvPr/>
        </p:nvSpPr>
        <p:spPr>
          <a:xfrm>
            <a:off x="786384" y="2376678"/>
            <a:ext cx="3186074"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real transactions ingested end-to-end, zero dropped</a:t>
            </a:r>
            <a:endParaRPr sz="1800" b="0" i="0">
              <a:solidFill>
                <a:srgbClr val="59697D"/>
              </a:solidFill>
              <a:latin typeface="Calibri"/>
            </a:endParaRPr>
          </a:p>
        </p:txBody>
      </p:sp>
      <p:sp>
        <p:nvSpPr>
          <p:cNvPr id="9" name="Rounded Rectangle 8"/>
          <p:cNvSpPr/>
          <p:nvPr/>
        </p:nvSpPr>
        <p:spPr>
          <a:xfrm>
            <a:off x="4338218" y="1700784"/>
            <a:ext cx="3515258" cy="1371600"/>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2810" y="1838706"/>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~646/sec</a:t>
            </a:r>
            <a:endParaRPr sz="3000" b="1" i="0">
              <a:solidFill>
                <a:srgbClr val="12365E"/>
              </a:solidFill>
              <a:latin typeface="Calibri"/>
            </a:endParaRPr>
          </a:p>
        </p:txBody>
      </p:sp>
      <p:sp>
        <p:nvSpPr>
          <p:cNvPr id="11" name="TextBox 10"/>
          <p:cNvSpPr txBox="1"/>
          <p:nvPr/>
        </p:nvSpPr>
        <p:spPr>
          <a:xfrm>
            <a:off x="4502810" y="2376678"/>
            <a:ext cx="3186074"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sustained on one node, audit-written per row</a:t>
            </a:r>
            <a:endParaRPr sz="1800" b="0" i="0">
              <a:solidFill>
                <a:srgbClr val="59697D"/>
              </a:solidFill>
              <a:latin typeface="Calibri"/>
            </a:endParaRPr>
          </a:p>
        </p:txBody>
      </p:sp>
      <p:sp>
        <p:nvSpPr>
          <p:cNvPr id="12" name="Rounded Rectangle 11"/>
          <p:cNvSpPr/>
          <p:nvPr/>
        </p:nvSpPr>
        <p:spPr>
          <a:xfrm>
            <a:off x="8054644" y="1700784"/>
            <a:ext cx="3515258" cy="1371600"/>
          </a:xfrm>
          <a:prstGeom prst="roundRect">
            <a:avLst>
              <a:gd name="adj" fmla="val 4000"/>
            </a:avLst>
          </a:prstGeom>
          <a:solidFill>
            <a:srgbClr val="FFFFFF"/>
          </a:solidFill>
          <a:ln w="12700">
            <a:solidFill>
              <a:srgbClr val="D5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9236" y="1838706"/>
            <a:ext cx="3186074" cy="464820"/>
          </a:xfrm>
          <a:prstGeom prst="rect">
            <a:avLst/>
          </a:prstGeom>
          <a:noFill/>
        </p:spPr>
        <p:txBody>
          <a:bodyPr wrap="square" lIns="0" tIns="0" rIns="0" bIns="0">
            <a:spAutoFit/>
          </a:bodyPr>
          <a:lstStyle/>
          <a:p>
            <a:pPr algn="ctr">
              <a:lnSpc>
                <a:spcPct val="100000"/>
              </a:lnSpc>
              <a:spcAft>
                <a:spcPts val="0"/>
              </a:spcAft>
            </a:pPr>
            <a:r>
              <a:rPr sz="3000" b="1" i="0">
                <a:solidFill>
                  <a:srgbClr val="12365E"/>
                </a:solidFill>
                <a:latin typeface="Calibri"/>
              </a:rPr>
              <a:t>~2.6 min</a:t>
            </a:r>
            <a:endParaRPr sz="3000" b="1" i="0">
              <a:solidFill>
                <a:srgbClr val="12365E"/>
              </a:solidFill>
              <a:latin typeface="Calibri"/>
            </a:endParaRPr>
          </a:p>
        </p:txBody>
      </p:sp>
      <p:sp>
        <p:nvSpPr>
          <p:cNvPr id="14" name="TextBox 13"/>
          <p:cNvSpPr txBox="1"/>
          <p:nvPr/>
        </p:nvSpPr>
        <p:spPr>
          <a:xfrm>
            <a:off x="8219236" y="2376678"/>
            <a:ext cx="3186074"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to process a full 100,000-transaction day</a:t>
            </a:r>
            <a:endParaRPr sz="1800" b="0" i="0">
              <a:solidFill>
                <a:srgbClr val="59697D"/>
              </a:solidFill>
              <a:latin typeface="Calibri"/>
            </a:endParaRPr>
          </a:p>
        </p:txBody>
      </p:sp>
      <p:sp>
        <p:nvSpPr>
          <p:cNvPr id="15" name="TextBox 14"/>
          <p:cNvSpPr txBox="1"/>
          <p:nvPr/>
        </p:nvSpPr>
        <p:spPr>
          <a:xfrm>
            <a:off x="621792" y="3182112"/>
            <a:ext cx="10948111" cy="278892"/>
          </a:xfrm>
          <a:prstGeom prst="rect">
            <a:avLst/>
          </a:prstGeom>
          <a:noFill/>
        </p:spPr>
        <p:txBody>
          <a:bodyPr wrap="square" lIns="0" tIns="0" rIns="0" bIns="0">
            <a:spAutoFit/>
          </a:bodyPr>
          <a:lstStyle/>
          <a:p>
            <a:pPr algn="ctr">
              <a:lnSpc>
                <a:spcPct val="100000"/>
              </a:lnSpc>
              <a:spcAft>
                <a:spcPts val="0"/>
              </a:spcAft>
            </a:pPr>
            <a:r>
              <a:rPr sz="1800" b="1" i="0">
                <a:solidFill>
                  <a:srgbClr val="C8102E"/>
                </a:solidFill>
                <a:latin typeface="Calibri"/>
              </a:rPr>
              <a:t>44,790 accounts from that run  ·  case queries under 100 ms  ·  cost flat as the ledger grows</a:t>
            </a:r>
            <a:endParaRPr sz="1800" b="1" i="0">
              <a:solidFill>
                <a:srgbClr val="C8102E"/>
              </a:solidFill>
              <a:latin typeface="Calibri"/>
            </a:endParaRPr>
          </a:p>
        </p:txBody>
      </p:sp>
      <p:sp>
        <p:nvSpPr>
          <p:cNvPr id="16" name="Rounded Rectangle 15"/>
          <p:cNvSpPr/>
          <p:nvPr/>
        </p:nvSpPr>
        <p:spPr>
          <a:xfrm>
            <a:off x="621792" y="3584448"/>
            <a:ext cx="3466490" cy="193852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803904"/>
            <a:ext cx="2917850"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COMPUTE</a:t>
            </a:r>
            <a:endParaRPr sz="2000" b="1" i="0">
              <a:solidFill>
                <a:srgbClr val="12365E"/>
              </a:solidFill>
              <a:latin typeface="Calibri"/>
            </a:endParaRPr>
          </a:p>
        </p:txBody>
      </p:sp>
      <p:sp>
        <p:nvSpPr>
          <p:cNvPr id="18" name="TextBox 17"/>
          <p:cNvSpPr txBox="1"/>
          <p:nvPr/>
        </p:nvSpPr>
        <p:spPr>
          <a:xfrm>
            <a:off x="896112" y="4206240"/>
            <a:ext cx="2917850" cy="1204813"/>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Stateless API, 3 replicas minimum, auto-scaling to 20 on live load, with zero-downtime rolling updates.</a:t>
            </a:r>
            <a:endParaRPr sz="1800" b="0" i="0">
              <a:solidFill>
                <a:srgbClr val="59697D"/>
              </a:solidFill>
              <a:latin typeface="Calibri"/>
            </a:endParaRPr>
          </a:p>
        </p:txBody>
      </p:sp>
      <p:sp>
        <p:nvSpPr>
          <p:cNvPr id="19" name="Rounded Rectangle 18"/>
          <p:cNvSpPr/>
          <p:nvPr/>
        </p:nvSpPr>
        <p:spPr>
          <a:xfrm>
            <a:off x="4362602" y="3584448"/>
            <a:ext cx="3466490" cy="193852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36922" y="3803904"/>
            <a:ext cx="2917850"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DATABASE</a:t>
            </a:r>
            <a:endParaRPr sz="2000" b="1" i="0">
              <a:solidFill>
                <a:srgbClr val="12365E"/>
              </a:solidFill>
              <a:latin typeface="Calibri"/>
            </a:endParaRPr>
          </a:p>
        </p:txBody>
      </p:sp>
      <p:sp>
        <p:nvSpPr>
          <p:cNvPr id="21" name="TextBox 20"/>
          <p:cNvSpPr txBox="1"/>
          <p:nvPr/>
        </p:nvSpPr>
        <p:spPr>
          <a:xfrm>
            <a:off x="4636922" y="4206240"/>
            <a:ext cx="2917850" cy="1204813"/>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SQLite for a pilot, PostgreSQL for production, behind one storage interface. A config change, not a rewrite.</a:t>
            </a:r>
            <a:endParaRPr sz="1800" b="0" i="0">
              <a:solidFill>
                <a:srgbClr val="59697D"/>
              </a:solidFill>
              <a:latin typeface="Calibri"/>
            </a:endParaRPr>
          </a:p>
        </p:txBody>
      </p:sp>
      <p:sp>
        <p:nvSpPr>
          <p:cNvPr id="22" name="Rounded Rectangle 21"/>
          <p:cNvSpPr/>
          <p:nvPr/>
        </p:nvSpPr>
        <p:spPr>
          <a:xfrm>
            <a:off x="8103412" y="3584448"/>
            <a:ext cx="3466490" cy="1938528"/>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77732" y="3803904"/>
            <a:ext cx="2917850" cy="309879"/>
          </a:xfrm>
          <a:prstGeom prst="rect">
            <a:avLst/>
          </a:prstGeom>
          <a:noFill/>
        </p:spPr>
        <p:txBody>
          <a:bodyPr wrap="square" lIns="0" tIns="0" rIns="0" bIns="0">
            <a:spAutoFit/>
          </a:bodyPr>
          <a:lstStyle/>
          <a:p>
            <a:pPr algn="l">
              <a:lnSpc>
                <a:spcPct val="100000"/>
              </a:lnSpc>
              <a:spcAft>
                <a:spcPts val="0"/>
              </a:spcAft>
            </a:pPr>
            <a:r>
              <a:rPr sz="2000" b="1" i="0">
                <a:solidFill>
                  <a:srgbClr val="12365E"/>
                </a:solidFill>
                <a:latin typeface="Calibri"/>
              </a:rPr>
              <a:t>DEPLOYMENT</a:t>
            </a:r>
            <a:endParaRPr sz="2000" b="1" i="0">
              <a:solidFill>
                <a:srgbClr val="12365E"/>
              </a:solidFill>
              <a:latin typeface="Calibri"/>
            </a:endParaRPr>
          </a:p>
        </p:txBody>
      </p:sp>
      <p:sp>
        <p:nvSpPr>
          <p:cNvPr id="24" name="TextBox 23"/>
          <p:cNvSpPr txBox="1"/>
          <p:nvPr/>
        </p:nvSpPr>
        <p:spPr>
          <a:xfrm>
            <a:off x="8377732" y="4206240"/>
            <a:ext cx="2917850" cy="1204813"/>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Your Kubernetes, your OpenShift, or plain Docker on a server in your own data centre. Air-gappable.</a:t>
            </a:r>
            <a:endParaRPr sz="1800" b="0" i="0">
              <a:solidFill>
                <a:srgbClr val="59697D"/>
              </a:solidFill>
              <a:latin typeface="Calibri"/>
            </a:endParaRPr>
          </a:p>
        </p:txBody>
      </p:sp>
      <p:sp>
        <p:nvSpPr>
          <p:cNvPr id="25" name="Rounded Rectangle 24"/>
          <p:cNvSpPr/>
          <p:nvPr/>
        </p:nvSpPr>
        <p:spPr>
          <a:xfrm>
            <a:off x="621792" y="5541264"/>
            <a:ext cx="10948111" cy="749808"/>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6112" y="5669279"/>
            <a:ext cx="10399471" cy="591251"/>
          </a:xfrm>
          <a:prstGeom prst="rect">
            <a:avLst/>
          </a:prstGeom>
          <a:noFill/>
        </p:spPr>
        <p:txBody>
          <a:bodyPr wrap="square" lIns="0" tIns="0" rIns="0" bIns="0">
            <a:spAutoFit/>
          </a:bodyPr>
          <a:lstStyle/>
          <a:p>
            <a:pPr algn="ctr">
              <a:lnSpc>
                <a:spcPct val="106000"/>
              </a:lnSpc>
              <a:spcAft>
                <a:spcPts val="0"/>
              </a:spcAft>
            </a:pPr>
            <a:r>
              <a:rPr sz="1800" b="1" i="0">
                <a:solidFill>
                  <a:srgbClr val="FFFFFF"/>
                </a:solidFill>
                <a:latin typeface="Calibri"/>
              </a:rPr>
              <a:t>INSTALLATION:   provision node  ›  inject secrets from your vault  ›  point at your Postgres  ›  load a historical CSV export  ›  run detection  ›  go live</a:t>
            </a:r>
            <a:endParaRPr sz="1800" b="1" i="0">
              <a:solidFill>
                <a:srgbClr val="FFFFFF"/>
              </a:solidFill>
              <a:latin typeface="Calibri"/>
            </a:endParaRPr>
          </a:p>
        </p:txBody>
      </p:sp>
      <p:sp>
        <p:nvSpPr>
          <p:cNvPr id="27" name="TextBox 26"/>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8" name="TextBox 27"/>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9</a:t>
            </a:r>
            <a:endParaRPr sz="1800" b="1" i="0">
              <a:solidFill>
                <a:srgbClr val="93A2B3"/>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PROOF</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Measured, not claimed.</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972310"/>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5,078,345</a:t>
            </a:r>
            <a:endParaRPr sz="3400" b="1" i="0">
              <a:solidFill>
                <a:srgbClr val="12365E"/>
              </a:solidFill>
              <a:latin typeface="Calibri"/>
            </a:endParaRPr>
          </a:p>
        </p:txBody>
      </p:sp>
      <p:sp>
        <p:nvSpPr>
          <p:cNvPr id="8" name="TextBox 7"/>
          <p:cNvSpPr txBox="1"/>
          <p:nvPr/>
        </p:nvSpPr>
        <p:spPr>
          <a:xfrm>
            <a:off x="786384" y="2572258"/>
            <a:ext cx="3149498"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real benchmark transactions processed, 0 skipped</a:t>
            </a:r>
            <a:endParaRPr sz="1800" b="0" i="0">
              <a:solidFill>
                <a:srgbClr val="59697D"/>
              </a:solidFill>
              <a:latin typeface="Calibri"/>
            </a:endParaRPr>
          </a:p>
        </p:txBody>
      </p:sp>
      <p:sp>
        <p:nvSpPr>
          <p:cNvPr id="9" name="Rounded Rectangle 8"/>
          <p:cNvSpPr/>
          <p:nvPr/>
        </p:nvSpPr>
        <p:spPr>
          <a:xfrm>
            <a:off x="4356506" y="170078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1098" y="1972310"/>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44,790</a:t>
            </a:r>
            <a:endParaRPr sz="3400" b="1" i="0">
              <a:solidFill>
                <a:srgbClr val="12365E"/>
              </a:solidFill>
              <a:latin typeface="Calibri"/>
            </a:endParaRPr>
          </a:p>
        </p:txBody>
      </p:sp>
      <p:sp>
        <p:nvSpPr>
          <p:cNvPr id="11" name="TextBox 10"/>
          <p:cNvSpPr txBox="1"/>
          <p:nvPr/>
        </p:nvSpPr>
        <p:spPr>
          <a:xfrm>
            <a:off x="4521098" y="2572258"/>
            <a:ext cx="3149498"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suspicious accounts surfaced in one detection run</a:t>
            </a:r>
            <a:endParaRPr sz="1800" b="0" i="0">
              <a:solidFill>
                <a:srgbClr val="59697D"/>
              </a:solidFill>
              <a:latin typeface="Calibri"/>
            </a:endParaRPr>
          </a:p>
        </p:txBody>
      </p:sp>
      <p:sp>
        <p:nvSpPr>
          <p:cNvPr id="12" name="Rounded Rectangle 11"/>
          <p:cNvSpPr/>
          <p:nvPr/>
        </p:nvSpPr>
        <p:spPr>
          <a:xfrm>
            <a:off x="8091220" y="170078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55812" y="1972310"/>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726</a:t>
            </a:r>
            <a:endParaRPr sz="3400" b="1" i="0">
              <a:solidFill>
                <a:srgbClr val="12365E"/>
              </a:solidFill>
              <a:latin typeface="Calibri"/>
            </a:endParaRPr>
          </a:p>
        </p:txBody>
      </p:sp>
      <p:sp>
        <p:nvSpPr>
          <p:cNvPr id="14" name="TextBox 13"/>
          <p:cNvSpPr txBox="1"/>
          <p:nvPr/>
        </p:nvSpPr>
        <p:spPr>
          <a:xfrm>
            <a:off x="8255812" y="2572258"/>
            <a:ext cx="3149498"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automated tests passing, at 97.7% coverage</a:t>
            </a:r>
            <a:endParaRPr sz="1800" b="0" i="0">
              <a:solidFill>
                <a:srgbClr val="59697D"/>
              </a:solidFill>
              <a:latin typeface="Calibri"/>
            </a:endParaRPr>
          </a:p>
        </p:txBody>
      </p:sp>
      <p:sp>
        <p:nvSpPr>
          <p:cNvPr id="15" name="Rounded Rectangle 14"/>
          <p:cNvSpPr/>
          <p:nvPr/>
        </p:nvSpPr>
        <p:spPr>
          <a:xfrm>
            <a:off x="621792" y="362102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3892550"/>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693,102</a:t>
            </a:r>
            <a:endParaRPr sz="3400" b="1" i="0">
              <a:solidFill>
                <a:srgbClr val="12365E"/>
              </a:solidFill>
              <a:latin typeface="Calibri"/>
            </a:endParaRPr>
          </a:p>
        </p:txBody>
      </p:sp>
      <p:sp>
        <p:nvSpPr>
          <p:cNvPr id="17" name="TextBox 16"/>
          <p:cNvSpPr txBox="1"/>
          <p:nvPr/>
        </p:nvSpPr>
        <p:spPr>
          <a:xfrm>
            <a:off x="786384" y="4492498"/>
            <a:ext cx="3149498"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audit records, chain integrity verified</a:t>
            </a:r>
            <a:endParaRPr sz="1800" b="0" i="0">
              <a:solidFill>
                <a:srgbClr val="59697D"/>
              </a:solidFill>
              <a:latin typeface="Calibri"/>
            </a:endParaRPr>
          </a:p>
        </p:txBody>
      </p:sp>
      <p:sp>
        <p:nvSpPr>
          <p:cNvPr id="18" name="Rounded Rectangle 17"/>
          <p:cNvSpPr/>
          <p:nvPr/>
        </p:nvSpPr>
        <p:spPr>
          <a:xfrm>
            <a:off x="4356506" y="362102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1098" y="3892550"/>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0.778</a:t>
            </a:r>
            <a:endParaRPr sz="3400" b="1" i="0">
              <a:solidFill>
                <a:srgbClr val="12365E"/>
              </a:solidFill>
              <a:latin typeface="Calibri"/>
            </a:endParaRPr>
          </a:p>
        </p:txBody>
      </p:sp>
      <p:sp>
        <p:nvSpPr>
          <p:cNvPr id="20" name="TextBox 19"/>
          <p:cNvSpPr txBox="1"/>
          <p:nvPr/>
        </p:nvSpPr>
        <p:spPr>
          <a:xfrm>
            <a:off x="4521098" y="4492498"/>
            <a:ext cx="3149498" cy="557784"/>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AUC-ROC at a 0.48% base rate — real signal, hard problem</a:t>
            </a:r>
            <a:endParaRPr sz="1800" b="0" i="0">
              <a:solidFill>
                <a:srgbClr val="59697D"/>
              </a:solidFill>
              <a:latin typeface="Calibri"/>
            </a:endParaRPr>
          </a:p>
        </p:txBody>
      </p:sp>
      <p:sp>
        <p:nvSpPr>
          <p:cNvPr id="21" name="Rounded Rectangle 20"/>
          <p:cNvSpPr/>
          <p:nvPr/>
        </p:nvSpPr>
        <p:spPr>
          <a:xfrm>
            <a:off x="8091220" y="3621024"/>
            <a:ext cx="3478682" cy="170078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5812" y="4031996"/>
            <a:ext cx="3149498" cy="526795"/>
          </a:xfrm>
          <a:prstGeom prst="rect">
            <a:avLst/>
          </a:prstGeom>
          <a:noFill/>
        </p:spPr>
        <p:txBody>
          <a:bodyPr wrap="square" lIns="0" tIns="0" rIns="0" bIns="0">
            <a:spAutoFit/>
          </a:bodyPr>
          <a:lstStyle/>
          <a:p>
            <a:pPr algn="ctr">
              <a:lnSpc>
                <a:spcPct val="100000"/>
              </a:lnSpc>
              <a:spcAft>
                <a:spcPts val="0"/>
              </a:spcAft>
            </a:pPr>
            <a:r>
              <a:rPr sz="3400" b="1" i="0">
                <a:solidFill>
                  <a:srgbClr val="12365E"/>
                </a:solidFill>
                <a:latin typeface="Calibri"/>
              </a:rPr>
              <a:t>&lt; 100 ms</a:t>
            </a:r>
            <a:endParaRPr sz="3400" b="1" i="0">
              <a:solidFill>
                <a:srgbClr val="12365E"/>
              </a:solidFill>
              <a:latin typeface="Calibri"/>
            </a:endParaRPr>
          </a:p>
        </p:txBody>
      </p:sp>
      <p:sp>
        <p:nvSpPr>
          <p:cNvPr id="23" name="TextBox 22"/>
          <p:cNvSpPr txBox="1"/>
          <p:nvPr/>
        </p:nvSpPr>
        <p:spPr>
          <a:xfrm>
            <a:off x="8255812" y="4631944"/>
            <a:ext cx="3149498" cy="278892"/>
          </a:xfrm>
          <a:prstGeom prst="rect">
            <a:avLst/>
          </a:prstGeom>
          <a:noFill/>
        </p:spPr>
        <p:txBody>
          <a:bodyPr wrap="square" lIns="0" tIns="0" rIns="0" bIns="0">
            <a:spAutoFit/>
          </a:bodyPr>
          <a:lstStyle/>
          <a:p>
            <a:pPr algn="ctr">
              <a:lnSpc>
                <a:spcPct val="100000"/>
              </a:lnSpc>
              <a:spcAft>
                <a:spcPts val="0"/>
              </a:spcAft>
            </a:pPr>
            <a:r>
              <a:rPr sz="1800" b="0" i="0">
                <a:solidFill>
                  <a:srgbClr val="59697D"/>
                </a:solidFill>
                <a:latin typeface="Calibri"/>
              </a:rPr>
              <a:t>case investigation query latency</a:t>
            </a:r>
            <a:endParaRPr sz="1800" b="0" i="0">
              <a:solidFill>
                <a:srgbClr val="59697D"/>
              </a:solidFill>
              <a:latin typeface="Calibri"/>
            </a:endParaRPr>
          </a:p>
        </p:txBody>
      </p:sp>
      <p:sp>
        <p:nvSpPr>
          <p:cNvPr id="24" name="Rounded Rectangle 23"/>
          <p:cNvSpPr/>
          <p:nvPr/>
        </p:nvSpPr>
        <p:spPr>
          <a:xfrm>
            <a:off x="621792" y="5632704"/>
            <a:ext cx="10948111" cy="640080"/>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5782310"/>
            <a:ext cx="10948111" cy="340868"/>
          </a:xfrm>
          <a:prstGeom prst="rect">
            <a:avLst/>
          </a:prstGeom>
          <a:noFill/>
        </p:spPr>
        <p:txBody>
          <a:bodyPr wrap="square" lIns="0" tIns="0" rIns="0" bIns="0">
            <a:spAutoFit/>
          </a:bodyPr>
          <a:lstStyle/>
          <a:p>
            <a:pPr algn="ctr">
              <a:lnSpc>
                <a:spcPct val="100000"/>
              </a:lnSpc>
              <a:spcAft>
                <a:spcPts val="0"/>
              </a:spcAft>
            </a:pPr>
            <a:r>
              <a:rPr sz="2200" b="1" i="0">
                <a:solidFill>
                  <a:srgbClr val="FFFFFF"/>
                </a:solidFill>
                <a:latin typeface="Calibri"/>
              </a:rPr>
              <a:t>Every number here came from a run we can reproduce in front of you.</a:t>
            </a:r>
            <a:endParaRPr sz="2200" b="1" i="0">
              <a:solidFill>
                <a:srgbClr val="FFFFFF"/>
              </a:solidFill>
              <a:latin typeface="Calibri"/>
            </a:endParaRPr>
          </a:p>
        </p:txBody>
      </p:sp>
      <p:sp>
        <p:nvSpPr>
          <p:cNvPr id="26" name="TextBox 25"/>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27" name="TextBox 26"/>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10</a:t>
            </a:r>
            <a:endParaRPr sz="1800" b="1" i="0">
              <a:solidFill>
                <a:srgbClr val="93A2B3"/>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BUSINESS MODEL</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A three-week pilot, not a three-year procurement.</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2572435" cy="234086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700784"/>
            <a:ext cx="2572435" cy="822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975104"/>
            <a:ext cx="206037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WEEK 1</a:t>
            </a:r>
            <a:endParaRPr sz="1800" b="1" i="0">
              <a:solidFill>
                <a:srgbClr val="C8102E"/>
              </a:solidFill>
              <a:latin typeface="Calibri"/>
            </a:endParaRPr>
          </a:p>
        </p:txBody>
      </p:sp>
      <p:sp>
        <p:nvSpPr>
          <p:cNvPr id="9" name="TextBox 8"/>
          <p:cNvSpPr txBox="1"/>
          <p:nvPr/>
        </p:nvSpPr>
        <p:spPr>
          <a:xfrm>
            <a:off x="877824" y="2304288"/>
            <a:ext cx="2060371" cy="340868"/>
          </a:xfrm>
          <a:prstGeom prst="rect">
            <a:avLst/>
          </a:prstGeom>
          <a:noFill/>
        </p:spPr>
        <p:txBody>
          <a:bodyPr wrap="square" lIns="0" tIns="0" rIns="0" bIns="0">
            <a:spAutoFit/>
          </a:bodyPr>
          <a:lstStyle/>
          <a:p>
            <a:pPr algn="l">
              <a:lnSpc>
                <a:spcPct val="100000"/>
              </a:lnSpc>
              <a:spcAft>
                <a:spcPts val="0"/>
              </a:spcAft>
            </a:pPr>
            <a:r>
              <a:rPr sz="2200" b="1" i="0">
                <a:solidFill>
                  <a:srgbClr val="12365E"/>
                </a:solidFill>
                <a:latin typeface="Calibri"/>
              </a:rPr>
              <a:t>PROVE</a:t>
            </a:r>
            <a:endParaRPr sz="2200" b="1" i="0">
              <a:solidFill>
                <a:srgbClr val="12365E"/>
              </a:solidFill>
              <a:latin typeface="Calibri"/>
            </a:endParaRPr>
          </a:p>
        </p:txBody>
      </p:sp>
      <p:sp>
        <p:nvSpPr>
          <p:cNvPr id="10" name="TextBox 9"/>
          <p:cNvSpPr txBox="1"/>
          <p:nvPr/>
        </p:nvSpPr>
        <p:spPr>
          <a:xfrm>
            <a:off x="877824" y="2724912"/>
            <a:ext cx="2060371" cy="1204813"/>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Detection run on your own historical exports. CSV in, alerts out.</a:t>
            </a:r>
            <a:endParaRPr sz="1800" b="0" i="0">
              <a:solidFill>
                <a:srgbClr val="59697D"/>
              </a:solidFill>
              <a:latin typeface="Calibri"/>
            </a:endParaRPr>
          </a:p>
        </p:txBody>
      </p:sp>
      <p:sp>
        <p:nvSpPr>
          <p:cNvPr id="11" name="Rounded Rectangle 10"/>
          <p:cNvSpPr/>
          <p:nvPr/>
        </p:nvSpPr>
        <p:spPr>
          <a:xfrm>
            <a:off x="3413683" y="1700784"/>
            <a:ext cx="2572435" cy="234086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3683" y="1700784"/>
            <a:ext cx="2572435" cy="822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69715" y="1975104"/>
            <a:ext cx="206037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WEEK 2</a:t>
            </a:r>
            <a:endParaRPr sz="1800" b="1" i="0">
              <a:solidFill>
                <a:srgbClr val="C8102E"/>
              </a:solidFill>
              <a:latin typeface="Calibri"/>
            </a:endParaRPr>
          </a:p>
        </p:txBody>
      </p:sp>
      <p:sp>
        <p:nvSpPr>
          <p:cNvPr id="14" name="TextBox 13"/>
          <p:cNvSpPr txBox="1"/>
          <p:nvPr/>
        </p:nvSpPr>
        <p:spPr>
          <a:xfrm>
            <a:off x="3669715" y="2304288"/>
            <a:ext cx="2060371" cy="340868"/>
          </a:xfrm>
          <a:prstGeom prst="rect">
            <a:avLst/>
          </a:prstGeom>
          <a:noFill/>
        </p:spPr>
        <p:txBody>
          <a:bodyPr wrap="square" lIns="0" tIns="0" rIns="0" bIns="0">
            <a:spAutoFit/>
          </a:bodyPr>
          <a:lstStyle/>
          <a:p>
            <a:pPr algn="l">
              <a:lnSpc>
                <a:spcPct val="100000"/>
              </a:lnSpc>
              <a:spcAft>
                <a:spcPts val="0"/>
              </a:spcAft>
            </a:pPr>
            <a:r>
              <a:rPr sz="2200" b="1" i="0">
                <a:solidFill>
                  <a:srgbClr val="12365E"/>
                </a:solidFill>
                <a:latin typeface="Calibri"/>
              </a:rPr>
              <a:t>CALIBRATE</a:t>
            </a:r>
            <a:endParaRPr sz="2200" b="1" i="0">
              <a:solidFill>
                <a:srgbClr val="12365E"/>
              </a:solidFill>
              <a:latin typeface="Calibri"/>
            </a:endParaRPr>
          </a:p>
        </p:txBody>
      </p:sp>
      <p:sp>
        <p:nvSpPr>
          <p:cNvPr id="15" name="TextBox 14"/>
          <p:cNvSpPr txBox="1"/>
          <p:nvPr/>
        </p:nvSpPr>
        <p:spPr>
          <a:xfrm>
            <a:off x="3669715" y="2724912"/>
            <a:ext cx="2060371"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Your compliance team tunes thresholds on your typologies.</a:t>
            </a:r>
            <a:endParaRPr sz="1800" b="0" i="0">
              <a:solidFill>
                <a:srgbClr val="59697D"/>
              </a:solidFill>
              <a:latin typeface="Calibri"/>
            </a:endParaRPr>
          </a:p>
        </p:txBody>
      </p:sp>
      <p:sp>
        <p:nvSpPr>
          <p:cNvPr id="16" name="Rounded Rectangle 15"/>
          <p:cNvSpPr/>
          <p:nvPr/>
        </p:nvSpPr>
        <p:spPr>
          <a:xfrm>
            <a:off x="6205575" y="1700784"/>
            <a:ext cx="2572435" cy="234086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5575" y="1700784"/>
            <a:ext cx="2572435" cy="822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1607" y="1975104"/>
            <a:ext cx="206037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WEEK 3</a:t>
            </a:r>
            <a:endParaRPr sz="1800" b="1" i="0">
              <a:solidFill>
                <a:srgbClr val="C8102E"/>
              </a:solidFill>
              <a:latin typeface="Calibri"/>
            </a:endParaRPr>
          </a:p>
        </p:txBody>
      </p:sp>
      <p:sp>
        <p:nvSpPr>
          <p:cNvPr id="19" name="TextBox 18"/>
          <p:cNvSpPr txBox="1"/>
          <p:nvPr/>
        </p:nvSpPr>
        <p:spPr>
          <a:xfrm>
            <a:off x="6461607" y="2304288"/>
            <a:ext cx="2060371" cy="340868"/>
          </a:xfrm>
          <a:prstGeom prst="rect">
            <a:avLst/>
          </a:prstGeom>
          <a:noFill/>
        </p:spPr>
        <p:txBody>
          <a:bodyPr wrap="square" lIns="0" tIns="0" rIns="0" bIns="0">
            <a:spAutoFit/>
          </a:bodyPr>
          <a:lstStyle/>
          <a:p>
            <a:pPr algn="l">
              <a:lnSpc>
                <a:spcPct val="100000"/>
              </a:lnSpc>
              <a:spcAft>
                <a:spcPts val="0"/>
              </a:spcAft>
            </a:pPr>
            <a:r>
              <a:rPr sz="2200" b="1" i="0">
                <a:solidFill>
                  <a:srgbClr val="12365E"/>
                </a:solidFill>
                <a:latin typeface="Calibri"/>
              </a:rPr>
              <a:t>RUN</a:t>
            </a:r>
            <a:endParaRPr sz="2200" b="1" i="0">
              <a:solidFill>
                <a:srgbClr val="12365E"/>
              </a:solidFill>
              <a:latin typeface="Calibri"/>
            </a:endParaRPr>
          </a:p>
        </p:txBody>
      </p:sp>
      <p:sp>
        <p:nvSpPr>
          <p:cNvPr id="20" name="TextBox 19"/>
          <p:cNvSpPr txBox="1"/>
          <p:nvPr/>
        </p:nvSpPr>
        <p:spPr>
          <a:xfrm>
            <a:off x="6461607" y="2724912"/>
            <a:ext cx="2060371" cy="903610"/>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Two real investigators, real cases, an evaluation you own.</a:t>
            </a:r>
            <a:endParaRPr sz="1800" b="0" i="0">
              <a:solidFill>
                <a:srgbClr val="59697D"/>
              </a:solidFill>
              <a:latin typeface="Calibri"/>
            </a:endParaRPr>
          </a:p>
        </p:txBody>
      </p:sp>
      <p:sp>
        <p:nvSpPr>
          <p:cNvPr id="21" name="Rounded Rectangle 20"/>
          <p:cNvSpPr/>
          <p:nvPr/>
        </p:nvSpPr>
        <p:spPr>
          <a:xfrm>
            <a:off x="8997467" y="1700784"/>
            <a:ext cx="2572435" cy="2340864"/>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7467" y="1700784"/>
            <a:ext cx="2572435" cy="82296"/>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3499" y="1975104"/>
            <a:ext cx="2060371" cy="278892"/>
          </a:xfrm>
          <a:prstGeom prst="rect">
            <a:avLst/>
          </a:prstGeom>
          <a:noFill/>
        </p:spPr>
        <p:txBody>
          <a:bodyPr wrap="square" lIns="0" tIns="0" rIns="0" bIns="0">
            <a:spAutoFit/>
          </a:bodyPr>
          <a:lstStyle/>
          <a:p>
            <a:pPr algn="l">
              <a:lnSpc>
                <a:spcPct val="100000"/>
              </a:lnSpc>
              <a:spcAft>
                <a:spcPts val="0"/>
              </a:spcAft>
            </a:pPr>
            <a:r>
              <a:rPr sz="1800" b="1" i="0">
                <a:solidFill>
                  <a:srgbClr val="12365E"/>
                </a:solidFill>
                <a:latin typeface="Calibri"/>
              </a:rPr>
              <a:t>THEN</a:t>
            </a:r>
            <a:endParaRPr sz="1800" b="1" i="0">
              <a:solidFill>
                <a:srgbClr val="12365E"/>
              </a:solidFill>
              <a:latin typeface="Calibri"/>
            </a:endParaRPr>
          </a:p>
        </p:txBody>
      </p:sp>
      <p:sp>
        <p:nvSpPr>
          <p:cNvPr id="24" name="TextBox 23"/>
          <p:cNvSpPr txBox="1"/>
          <p:nvPr/>
        </p:nvSpPr>
        <p:spPr>
          <a:xfrm>
            <a:off x="9253499" y="2304288"/>
            <a:ext cx="2060371" cy="340868"/>
          </a:xfrm>
          <a:prstGeom prst="rect">
            <a:avLst/>
          </a:prstGeom>
          <a:noFill/>
        </p:spPr>
        <p:txBody>
          <a:bodyPr wrap="square" lIns="0" tIns="0" rIns="0" bIns="0">
            <a:spAutoFit/>
          </a:bodyPr>
          <a:lstStyle/>
          <a:p>
            <a:pPr algn="l">
              <a:lnSpc>
                <a:spcPct val="100000"/>
              </a:lnSpc>
              <a:spcAft>
                <a:spcPts val="0"/>
              </a:spcAft>
            </a:pPr>
            <a:r>
              <a:rPr sz="2200" b="1" i="0">
                <a:solidFill>
                  <a:srgbClr val="12365E"/>
                </a:solidFill>
                <a:latin typeface="Calibri"/>
              </a:rPr>
              <a:t>DEPLOY</a:t>
            </a:r>
            <a:endParaRPr sz="2200" b="1" i="0">
              <a:solidFill>
                <a:srgbClr val="12365E"/>
              </a:solidFill>
              <a:latin typeface="Calibri"/>
            </a:endParaRPr>
          </a:p>
        </p:txBody>
      </p:sp>
      <p:sp>
        <p:nvSpPr>
          <p:cNvPr id="25" name="TextBox 24"/>
          <p:cNvSpPr txBox="1"/>
          <p:nvPr/>
        </p:nvSpPr>
        <p:spPr>
          <a:xfrm>
            <a:off x="9253499" y="2724912"/>
            <a:ext cx="2060371" cy="1204813"/>
          </a:xfrm>
          <a:prstGeom prst="rect">
            <a:avLst/>
          </a:prstGeom>
          <a:noFill/>
        </p:spPr>
        <p:txBody>
          <a:bodyPr wrap="square" lIns="0" tIns="0" rIns="0" bIns="0">
            <a:spAutoFit/>
          </a:bodyPr>
          <a:lstStyle/>
          <a:p>
            <a:pPr algn="l">
              <a:lnSpc>
                <a:spcPct val="108000"/>
              </a:lnSpc>
              <a:spcAft>
                <a:spcPts val="0"/>
              </a:spcAft>
            </a:pPr>
            <a:r>
              <a:rPr sz="1800" b="0" i="0">
                <a:solidFill>
                  <a:srgbClr val="59697D"/>
                </a:solidFill>
                <a:latin typeface="Calibri"/>
              </a:rPr>
              <a:t>Private cloud in your account, or on-premise. Data never leaves.</a:t>
            </a:r>
            <a:endParaRPr sz="1800" b="0" i="0">
              <a:solidFill>
                <a:srgbClr val="59697D"/>
              </a:solidFill>
              <a:latin typeface="Calibri"/>
            </a:endParaRPr>
          </a:p>
        </p:txBody>
      </p:sp>
      <p:sp>
        <p:nvSpPr>
          <p:cNvPr id="26" name="Rounded Rectangle 25"/>
          <p:cNvSpPr/>
          <p:nvPr/>
        </p:nvSpPr>
        <p:spPr>
          <a:xfrm>
            <a:off x="621792" y="4114800"/>
            <a:ext cx="5336895" cy="1627632"/>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4297680"/>
            <a:ext cx="4788255"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COMMERCIAL MODEL</a:t>
            </a:r>
            <a:endParaRPr sz="1800" b="1" i="0">
              <a:solidFill>
                <a:srgbClr val="C8102E"/>
              </a:solidFill>
              <a:latin typeface="Calibri"/>
            </a:endParaRPr>
          </a:p>
        </p:txBody>
      </p:sp>
      <p:sp>
        <p:nvSpPr>
          <p:cNvPr id="28" name="TextBox 27"/>
          <p:cNvSpPr txBox="1"/>
          <p:nvPr/>
        </p:nvSpPr>
        <p:spPr>
          <a:xfrm>
            <a:off x="896112" y="4663440"/>
            <a:ext cx="4788255" cy="953993"/>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Pilot — 3 weeks, no core-banking integration</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Private-cloud licence — you keep data custody</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On-premise for hard data-residency mandates</a:t>
            </a:r>
            <a:endParaRPr sz="1800" b="0" i="0">
              <a:solidFill>
                <a:srgbClr val="0D1B2A"/>
              </a:solidFill>
              <a:latin typeface="Calibri"/>
            </a:endParaRPr>
          </a:p>
        </p:txBody>
      </p:sp>
      <p:sp>
        <p:nvSpPr>
          <p:cNvPr id="29" name="Rounded Rectangle 28"/>
          <p:cNvSpPr/>
          <p:nvPr/>
        </p:nvSpPr>
        <p:spPr>
          <a:xfrm>
            <a:off x="6233007" y="4114800"/>
            <a:ext cx="5336895" cy="1627632"/>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07327" y="4297680"/>
            <a:ext cx="4788255"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THE MARKET</a:t>
            </a:r>
            <a:endParaRPr sz="1800" b="1" i="0">
              <a:solidFill>
                <a:srgbClr val="C8102E"/>
              </a:solidFill>
              <a:latin typeface="Calibri"/>
            </a:endParaRPr>
          </a:p>
        </p:txBody>
      </p:sp>
      <p:sp>
        <p:nvSpPr>
          <p:cNvPr id="31" name="TextBox 30"/>
          <p:cNvSpPr txBox="1"/>
          <p:nvPr/>
        </p:nvSpPr>
        <p:spPr>
          <a:xfrm>
            <a:off x="6507327" y="4663440"/>
            <a:ext cx="4788255" cy="953993"/>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309 addressable Indian institutions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₹114.5 Cr serviceable annual revenue in India</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Global AML software: $3.2 bn → $9.1 bn by 2034</a:t>
            </a:r>
            <a:endParaRPr sz="1800" b="0" i="0">
              <a:solidFill>
                <a:srgbClr val="0D1B2A"/>
              </a:solidFill>
              <a:latin typeface="Calibri"/>
            </a:endParaRPr>
          </a:p>
        </p:txBody>
      </p:sp>
      <p:sp>
        <p:nvSpPr>
          <p:cNvPr id="32" name="Rounded Rectangle 31"/>
          <p:cNvSpPr/>
          <p:nvPr/>
        </p:nvSpPr>
        <p:spPr>
          <a:xfrm>
            <a:off x="621792" y="5815584"/>
            <a:ext cx="10948111" cy="475488"/>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882894"/>
            <a:ext cx="10948111" cy="340868"/>
          </a:xfrm>
          <a:prstGeom prst="rect">
            <a:avLst/>
          </a:prstGeom>
          <a:noFill/>
        </p:spPr>
        <p:txBody>
          <a:bodyPr wrap="square" lIns="0" tIns="0" rIns="0" bIns="0">
            <a:spAutoFit/>
          </a:bodyPr>
          <a:lstStyle/>
          <a:p>
            <a:pPr algn="ctr">
              <a:lnSpc>
                <a:spcPct val="100000"/>
              </a:lnSpc>
              <a:spcAft>
                <a:spcPts val="0"/>
              </a:spcAft>
            </a:pPr>
            <a:r>
              <a:rPr sz="2200" b="1" i="0">
                <a:solidFill>
                  <a:srgbClr val="FFFFFF"/>
                </a:solidFill>
                <a:latin typeface="Calibri"/>
              </a:rPr>
              <a:t>We complement your AML stack. We don't ask you to replace it.</a:t>
            </a:r>
            <a:endParaRPr sz="2200" b="1" i="0">
              <a:solidFill>
                <a:srgbClr val="FFFFFF"/>
              </a:solidFill>
              <a:latin typeface="Calibri"/>
            </a:endParaRPr>
          </a:p>
        </p:txBody>
      </p:sp>
      <p:sp>
        <p:nvSpPr>
          <p:cNvPr id="34" name="TextBox 33"/>
          <p:cNvSpPr txBox="1"/>
          <p:nvPr/>
        </p:nvSpPr>
        <p:spPr>
          <a:xfrm>
            <a:off x="621792" y="6419088"/>
            <a:ext cx="5486400" cy="278892"/>
          </a:xfrm>
          <a:prstGeom prst="rect">
            <a:avLst/>
          </a:prstGeom>
          <a:noFill/>
        </p:spPr>
        <p:txBody>
          <a:bodyPr wrap="square" lIns="0" tIns="0" rIns="0" bIns="0">
            <a:spAutoFit/>
          </a:bodyPr>
          <a:lstStyle/>
          <a:p>
            <a:pPr algn="l">
              <a:lnSpc>
                <a:spcPct val="100000"/>
              </a:lnSpc>
              <a:spcAft>
                <a:spcPts val="0"/>
              </a:spcAft>
            </a:pPr>
            <a:r>
              <a:rPr sz="1800" b="0" i="0">
                <a:solidFill>
                  <a:srgbClr val="93A2B3"/>
                </a:solidFill>
                <a:latin typeface="Calibri"/>
              </a:rPr>
              <a:t>TraceX  ·  Global Fintech Festival '26</a:t>
            </a:r>
            <a:endParaRPr sz="1800" b="0" i="0">
              <a:solidFill>
                <a:srgbClr val="93A2B3"/>
              </a:solidFill>
              <a:latin typeface="Calibri"/>
            </a:endParaRPr>
          </a:p>
        </p:txBody>
      </p:sp>
      <p:sp>
        <p:nvSpPr>
          <p:cNvPr id="35" name="TextBox 34"/>
          <p:cNvSpPr txBox="1"/>
          <p:nvPr/>
        </p:nvSpPr>
        <p:spPr>
          <a:xfrm>
            <a:off x="10289743" y="6419088"/>
            <a:ext cx="1280160" cy="278892"/>
          </a:xfrm>
          <a:prstGeom prst="rect">
            <a:avLst/>
          </a:prstGeom>
          <a:noFill/>
        </p:spPr>
        <p:txBody>
          <a:bodyPr wrap="square" lIns="0" tIns="0" rIns="0" bIns="0">
            <a:spAutoFit/>
          </a:bodyPr>
          <a:lstStyle/>
          <a:p>
            <a:pPr algn="r">
              <a:lnSpc>
                <a:spcPct val="100000"/>
              </a:lnSpc>
              <a:spcAft>
                <a:spcPts val="0"/>
              </a:spcAft>
            </a:pPr>
            <a:r>
              <a:rPr sz="1800" b="1" i="0">
                <a:solidFill>
                  <a:srgbClr val="93A2B3"/>
                </a:solidFill>
                <a:latin typeface="Calibri"/>
              </a:rPr>
              <a:t>11</a:t>
            </a:r>
            <a:endParaRPr sz="1800" b="1" i="0">
              <a:solidFill>
                <a:srgbClr val="93A2B3"/>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822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243584"/>
            <a:ext cx="10948111" cy="1546920"/>
          </a:xfrm>
          <a:prstGeom prst="rect">
            <a:avLst/>
          </a:prstGeom>
          <a:noFill/>
        </p:spPr>
        <p:txBody>
          <a:bodyPr wrap="square" lIns="0" tIns="0" rIns="0" bIns="0">
            <a:spAutoFit/>
          </a:bodyPr>
          <a:lstStyle/>
          <a:p>
            <a:pPr algn="l">
              <a:lnSpc>
                <a:spcPct val="128000"/>
              </a:lnSpc>
              <a:spcAft>
                <a:spcPts val="0"/>
              </a:spcAft>
            </a:pPr>
            <a:r>
              <a:rPr sz="2600" b="0" i="0">
                <a:solidFill>
                  <a:srgbClr val="A9C0DA"/>
                </a:solidFill>
                <a:latin typeface="Calibri"/>
              </a:rPr>
              <a:t>Detection finds the signal.</a:t>
            </a:r>
            <a:endParaRPr sz="2600" b="0" i="0">
              <a:solidFill>
                <a:srgbClr val="A9C0DA"/>
              </a:solidFill>
              <a:latin typeface="Calibri"/>
            </a:endParaRPr>
          </a:p>
          <a:p>
            <a:pPr algn="l">
              <a:lnSpc>
                <a:spcPct val="128000"/>
              </a:lnSpc>
              <a:spcAft>
                <a:spcPts val="0"/>
              </a:spcAft>
            </a:pPr>
            <a:r>
              <a:rPr sz="2600" b="0" i="0">
                <a:solidFill>
                  <a:srgbClr val="A9C0DA"/>
                </a:solidFill>
                <a:latin typeface="Calibri"/>
              </a:rPr>
              <a:t>Investigation finds the story.</a:t>
            </a:r>
            <a:endParaRPr sz="2600" b="0" i="0">
              <a:solidFill>
                <a:srgbClr val="A9C0DA"/>
              </a:solidFill>
              <a:latin typeface="Calibri"/>
            </a:endParaRPr>
          </a:p>
          <a:p>
            <a:pPr algn="l">
              <a:lnSpc>
                <a:spcPct val="128000"/>
              </a:lnSpc>
              <a:spcAft>
                <a:spcPts val="0"/>
              </a:spcAft>
            </a:pPr>
            <a:r>
              <a:rPr sz="2600" b="0" i="0">
                <a:solidFill>
                  <a:srgbClr val="A9C0DA"/>
                </a:solidFill>
                <a:latin typeface="Calibri"/>
              </a:rPr>
              <a:t>Feedback makes the system smarter.</a:t>
            </a:r>
            <a:endParaRPr sz="2600" b="0" i="0">
              <a:solidFill>
                <a:srgbClr val="A9C0DA"/>
              </a:solidFill>
              <a:latin typeface="Calibri"/>
            </a:endParaRPr>
          </a:p>
        </p:txBody>
      </p:sp>
      <p:sp>
        <p:nvSpPr>
          <p:cNvPr id="6" name="TextBox 5"/>
          <p:cNvSpPr txBox="1"/>
          <p:nvPr/>
        </p:nvSpPr>
        <p:spPr>
          <a:xfrm>
            <a:off x="621792" y="2926080"/>
            <a:ext cx="10948111" cy="1115568"/>
          </a:xfrm>
          <a:prstGeom prst="rect">
            <a:avLst/>
          </a:prstGeom>
          <a:noFill/>
        </p:spPr>
        <p:txBody>
          <a:bodyPr wrap="square" lIns="0" tIns="0" rIns="0" bIns="0">
            <a:spAutoFit/>
          </a:bodyPr>
          <a:lstStyle/>
          <a:p>
            <a:pPr algn="l">
              <a:lnSpc>
                <a:spcPct val="100000"/>
              </a:lnSpc>
              <a:spcAft>
                <a:spcPts val="0"/>
              </a:spcAft>
            </a:pPr>
            <a:r>
              <a:rPr sz="7200" b="1" i="0">
                <a:solidFill>
                  <a:srgbClr val="FFFFFF"/>
                </a:solidFill>
                <a:latin typeface="Calibri"/>
              </a:rPr>
              <a:t>TraceX</a:t>
            </a:r>
            <a:endParaRPr sz="7200" b="1" i="0">
              <a:solidFill>
                <a:srgbClr val="FFFFFF"/>
              </a:solidFill>
              <a:latin typeface="Calibri"/>
            </a:endParaRPr>
          </a:p>
        </p:txBody>
      </p:sp>
      <p:sp>
        <p:nvSpPr>
          <p:cNvPr id="7" name="TextBox 6"/>
          <p:cNvSpPr txBox="1"/>
          <p:nvPr/>
        </p:nvSpPr>
        <p:spPr>
          <a:xfrm>
            <a:off x="621792" y="4169663"/>
            <a:ext cx="10948111" cy="402844"/>
          </a:xfrm>
          <a:prstGeom prst="rect">
            <a:avLst/>
          </a:prstGeom>
          <a:noFill/>
        </p:spPr>
        <p:txBody>
          <a:bodyPr wrap="square" lIns="0" tIns="0" rIns="0" bIns="0">
            <a:spAutoFit/>
          </a:bodyPr>
          <a:lstStyle/>
          <a:p>
            <a:pPr algn="l">
              <a:lnSpc>
                <a:spcPct val="100000"/>
              </a:lnSpc>
              <a:spcAft>
                <a:spcPts val="0"/>
              </a:spcAft>
            </a:pPr>
            <a:r>
              <a:rPr sz="2600" b="0" i="0">
                <a:solidFill>
                  <a:srgbClr val="FFFFFF"/>
                </a:solidFill>
                <a:latin typeface="Calibri"/>
              </a:rPr>
              <a:t>Investigate better.  Decide faster.  Learn continuously.</a:t>
            </a:r>
            <a:endParaRPr sz="2600" b="0" i="0">
              <a:solidFill>
                <a:srgbClr val="FFFFFF"/>
              </a:solidFill>
              <a:latin typeface="Calibri"/>
            </a:endParaRPr>
          </a:p>
        </p:txBody>
      </p:sp>
      <p:sp>
        <p:nvSpPr>
          <p:cNvPr id="8" name="Rounded Rectangle 7"/>
          <p:cNvSpPr/>
          <p:nvPr/>
        </p:nvSpPr>
        <p:spPr>
          <a:xfrm>
            <a:off x="621792" y="4846320"/>
            <a:ext cx="6675120" cy="914400"/>
          </a:xfrm>
          <a:prstGeom prst="roundRect">
            <a:avLst>
              <a:gd name="adj" fmla="val 4000"/>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10912"/>
            <a:ext cx="6089904" cy="689792"/>
          </a:xfrm>
          <a:prstGeom prst="rect">
            <a:avLst/>
          </a:prstGeom>
          <a:noFill/>
        </p:spPr>
        <p:txBody>
          <a:bodyPr wrap="square" lIns="0" tIns="0" rIns="0" bIns="0">
            <a:spAutoFit/>
          </a:bodyPr>
          <a:lstStyle/>
          <a:p>
            <a:pPr algn="l">
              <a:lnSpc>
                <a:spcPct val="106000"/>
              </a:lnSpc>
              <a:spcAft>
                <a:spcPts val="0"/>
              </a:spcAft>
            </a:pPr>
            <a:r>
              <a:rPr sz="2100" b="1" i="0">
                <a:solidFill>
                  <a:srgbClr val="FFFFFF"/>
                </a:solidFill>
                <a:latin typeface="Calibri"/>
              </a:rPr>
              <a:t>THE ASK:  a three-week pilot on Union Bank's own historical data.</a:t>
            </a:r>
            <a:endParaRPr sz="2100" b="1" i="0">
              <a:solidFill>
                <a:srgbClr val="FFFFFF"/>
              </a:solidFill>
              <a:latin typeface="Calibri"/>
            </a:endParaRPr>
          </a:p>
        </p:txBody>
      </p:sp>
      <p:sp>
        <p:nvSpPr>
          <p:cNvPr id="10" name="TextBox 9"/>
          <p:cNvSpPr txBox="1"/>
          <p:nvPr/>
        </p:nvSpPr>
        <p:spPr>
          <a:xfrm>
            <a:off x="7546543" y="4882896"/>
            <a:ext cx="4023360" cy="1045845"/>
          </a:xfrm>
          <a:prstGeom prst="rect">
            <a:avLst/>
          </a:prstGeom>
          <a:noFill/>
        </p:spPr>
        <p:txBody>
          <a:bodyPr wrap="square" lIns="0" tIns="0" rIns="0" bIns="0">
            <a:spAutoFit/>
          </a:bodyPr>
          <a:lstStyle/>
          <a:p>
            <a:pPr algn="r">
              <a:lnSpc>
                <a:spcPct val="125000"/>
              </a:lnSpc>
              <a:spcAft>
                <a:spcPts val="0"/>
              </a:spcAft>
            </a:pPr>
            <a:r>
              <a:rPr sz="1800" b="0" i="0">
                <a:solidFill>
                  <a:srgbClr val="8FA8C4"/>
                </a:solidFill>
                <a:latin typeface="Calibri"/>
              </a:rPr>
              <a:t>Union Bank of India × iDEA 2.0</a:t>
            </a:r>
            <a:endParaRPr sz="1800" b="0" i="0">
              <a:solidFill>
                <a:srgbClr val="8FA8C4"/>
              </a:solidFill>
              <a:latin typeface="Calibri"/>
            </a:endParaRPr>
          </a:p>
          <a:p>
            <a:pPr algn="r">
              <a:lnSpc>
                <a:spcPct val="125000"/>
              </a:lnSpc>
              <a:spcAft>
                <a:spcPts val="0"/>
              </a:spcAft>
            </a:pPr>
            <a:r>
              <a:rPr sz="1800" b="0" i="0">
                <a:solidFill>
                  <a:srgbClr val="8FA8C4"/>
                </a:solidFill>
                <a:latin typeface="Calibri"/>
              </a:rPr>
              <a:t>PSB Hackathon Winner</a:t>
            </a:r>
            <a:endParaRPr sz="1800" b="0" i="0">
              <a:solidFill>
                <a:srgbClr val="8FA8C4"/>
              </a:solidFill>
              <a:latin typeface="Calibri"/>
            </a:endParaRPr>
          </a:p>
          <a:p>
            <a:pPr algn="r">
              <a:lnSpc>
                <a:spcPct val="125000"/>
              </a:lnSpc>
              <a:spcAft>
                <a:spcPts val="0"/>
              </a:spcAft>
            </a:pPr>
            <a:r>
              <a:rPr sz="1800" b="0" i="0">
                <a:solidFill>
                  <a:srgbClr val="8FA8C4"/>
                </a:solidFill>
                <a:latin typeface="Calibri"/>
              </a:rPr>
              <a:t>Global Fintech Festival '26</a:t>
            </a:r>
            <a:endParaRPr sz="1800" b="0" i="0">
              <a:solidFill>
                <a:srgbClr val="8FA8C4"/>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APPENDIX A1 — NOT PRESENTED</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Five layers. One audited database.</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10948111" cy="731520"/>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792224"/>
            <a:ext cx="4572000" cy="309879"/>
          </a:xfrm>
          <a:prstGeom prst="rect">
            <a:avLst/>
          </a:prstGeom>
          <a:noFill/>
        </p:spPr>
        <p:txBody>
          <a:bodyPr wrap="square" lIns="0" tIns="0" rIns="0" bIns="0">
            <a:spAutoFit/>
          </a:bodyPr>
          <a:lstStyle/>
          <a:p>
            <a:pPr algn="l">
              <a:lnSpc>
                <a:spcPct val="100000"/>
              </a:lnSpc>
              <a:spcAft>
                <a:spcPts val="0"/>
              </a:spcAft>
            </a:pPr>
            <a:r>
              <a:rPr sz="2000" b="1" i="0">
                <a:solidFill>
                  <a:srgbClr val="FFFFFF"/>
                </a:solidFill>
                <a:latin typeface="Calibri"/>
              </a:rPr>
              <a:t>INVESTIGATOR WORKSPACE</a:t>
            </a:r>
            <a:endParaRPr sz="2000" b="1" i="0">
              <a:solidFill>
                <a:srgbClr val="FFFFFF"/>
              </a:solidFill>
              <a:latin typeface="Calibri"/>
            </a:endParaRPr>
          </a:p>
        </p:txBody>
      </p:sp>
      <p:sp>
        <p:nvSpPr>
          <p:cNvPr id="8" name="TextBox 7"/>
          <p:cNvSpPr txBox="1"/>
          <p:nvPr/>
        </p:nvSpPr>
        <p:spPr>
          <a:xfrm>
            <a:off x="932688" y="2121408"/>
            <a:ext cx="10326319" cy="278892"/>
          </a:xfrm>
          <a:prstGeom prst="rect">
            <a:avLst/>
          </a:prstGeom>
          <a:noFill/>
        </p:spPr>
        <p:txBody>
          <a:bodyPr wrap="square" lIns="0" tIns="0" rIns="0" bIns="0">
            <a:spAutoFit/>
          </a:bodyPr>
          <a:lstStyle/>
          <a:p>
            <a:pPr algn="l">
              <a:lnSpc>
                <a:spcPct val="100000"/>
              </a:lnSpc>
              <a:spcAft>
                <a:spcPts val="0"/>
              </a:spcAft>
            </a:pPr>
            <a:r>
              <a:rPr sz="1800" b="0" i="0">
                <a:solidFill>
                  <a:srgbClr val="D3E2F0"/>
                </a:solidFill>
                <a:latin typeface="Calibri"/>
              </a:rPr>
              <a:t>Triage view, case-scoped graph explorer, deep investigation, STR generation</a:t>
            </a:r>
            <a:endParaRPr sz="1800" b="0" i="0">
              <a:solidFill>
                <a:srgbClr val="D3E2F0"/>
              </a:solidFill>
              <a:latin typeface="Calibri"/>
            </a:endParaRPr>
          </a:p>
        </p:txBody>
      </p:sp>
      <p:sp>
        <p:nvSpPr>
          <p:cNvPr id="9" name="Rounded Rectangle 8"/>
          <p:cNvSpPr/>
          <p:nvPr/>
        </p:nvSpPr>
        <p:spPr>
          <a:xfrm>
            <a:off x="621792" y="2523744"/>
            <a:ext cx="10948111" cy="731520"/>
          </a:xfrm>
          <a:prstGeom prst="roundRect">
            <a:avLst>
              <a:gd name="adj" fmla="val 4000"/>
            </a:avLst>
          </a:prstGeom>
          <a:solidFill>
            <a:srgbClr val="1B4B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615184"/>
            <a:ext cx="4572000" cy="309879"/>
          </a:xfrm>
          <a:prstGeom prst="rect">
            <a:avLst/>
          </a:prstGeom>
          <a:noFill/>
        </p:spPr>
        <p:txBody>
          <a:bodyPr wrap="square" lIns="0" tIns="0" rIns="0" bIns="0">
            <a:spAutoFit/>
          </a:bodyPr>
          <a:lstStyle/>
          <a:p>
            <a:pPr algn="l">
              <a:lnSpc>
                <a:spcPct val="100000"/>
              </a:lnSpc>
              <a:spcAft>
                <a:spcPts val="0"/>
              </a:spcAft>
            </a:pPr>
            <a:r>
              <a:rPr sz="2000" b="1" i="0">
                <a:solidFill>
                  <a:srgbClr val="FFFFFF"/>
                </a:solidFill>
                <a:latin typeface="Calibri"/>
              </a:rPr>
              <a:t>API GATEWAY</a:t>
            </a:r>
            <a:endParaRPr sz="2000" b="1" i="0">
              <a:solidFill>
                <a:srgbClr val="FFFFFF"/>
              </a:solidFill>
              <a:latin typeface="Calibri"/>
            </a:endParaRPr>
          </a:p>
        </p:txBody>
      </p:sp>
      <p:sp>
        <p:nvSpPr>
          <p:cNvPr id="11" name="TextBox 10"/>
          <p:cNvSpPr txBox="1"/>
          <p:nvPr/>
        </p:nvSpPr>
        <p:spPr>
          <a:xfrm>
            <a:off x="932688" y="2944368"/>
            <a:ext cx="10326319" cy="278892"/>
          </a:xfrm>
          <a:prstGeom prst="rect">
            <a:avLst/>
          </a:prstGeom>
          <a:noFill/>
        </p:spPr>
        <p:txBody>
          <a:bodyPr wrap="square" lIns="0" tIns="0" rIns="0" bIns="0">
            <a:spAutoFit/>
          </a:bodyPr>
          <a:lstStyle/>
          <a:p>
            <a:pPr algn="l">
              <a:lnSpc>
                <a:spcPct val="100000"/>
              </a:lnSpc>
              <a:spcAft>
                <a:spcPts val="0"/>
              </a:spcAft>
            </a:pPr>
            <a:r>
              <a:rPr sz="1800" b="0" i="0">
                <a:solidFill>
                  <a:srgbClr val="D3E2F0"/>
                </a:solidFill>
                <a:latin typeface="Calibri"/>
              </a:rPr>
              <a:t>Authentication and role-based access enforced on every route module — not most, every one</a:t>
            </a:r>
            <a:endParaRPr sz="1800" b="0" i="0">
              <a:solidFill>
                <a:srgbClr val="D3E2F0"/>
              </a:solidFill>
              <a:latin typeface="Calibri"/>
            </a:endParaRPr>
          </a:p>
        </p:txBody>
      </p:sp>
      <p:sp>
        <p:nvSpPr>
          <p:cNvPr id="12" name="Rounded Rectangle 11"/>
          <p:cNvSpPr/>
          <p:nvPr/>
        </p:nvSpPr>
        <p:spPr>
          <a:xfrm>
            <a:off x="621792" y="3346704"/>
            <a:ext cx="10948111" cy="731520"/>
          </a:xfrm>
          <a:prstGeom prst="roundRect">
            <a:avLst>
              <a:gd name="adj" fmla="val 4000"/>
            </a:avLst>
          </a:prstGeom>
          <a:solidFill>
            <a:srgbClr val="245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438144"/>
            <a:ext cx="4572000" cy="309879"/>
          </a:xfrm>
          <a:prstGeom prst="rect">
            <a:avLst/>
          </a:prstGeom>
          <a:noFill/>
        </p:spPr>
        <p:txBody>
          <a:bodyPr wrap="square" lIns="0" tIns="0" rIns="0" bIns="0">
            <a:spAutoFit/>
          </a:bodyPr>
          <a:lstStyle/>
          <a:p>
            <a:pPr algn="l">
              <a:lnSpc>
                <a:spcPct val="100000"/>
              </a:lnSpc>
              <a:spcAft>
                <a:spcPts val="0"/>
              </a:spcAft>
            </a:pPr>
            <a:r>
              <a:rPr sz="2000" b="1" i="0">
                <a:solidFill>
                  <a:srgbClr val="FFFFFF"/>
                </a:solidFill>
                <a:latin typeface="Calibri"/>
              </a:rPr>
              <a:t>SERVICES</a:t>
            </a:r>
            <a:endParaRPr sz="2000" b="1" i="0">
              <a:solidFill>
                <a:srgbClr val="FFFFFF"/>
              </a:solidFill>
              <a:latin typeface="Calibri"/>
            </a:endParaRPr>
          </a:p>
        </p:txBody>
      </p:sp>
      <p:sp>
        <p:nvSpPr>
          <p:cNvPr id="14" name="TextBox 13"/>
          <p:cNvSpPr txBox="1"/>
          <p:nvPr/>
        </p:nvSpPr>
        <p:spPr>
          <a:xfrm>
            <a:off x="932688" y="3767328"/>
            <a:ext cx="10326319" cy="278892"/>
          </a:xfrm>
          <a:prstGeom prst="rect">
            <a:avLst/>
          </a:prstGeom>
          <a:noFill/>
        </p:spPr>
        <p:txBody>
          <a:bodyPr wrap="square" lIns="0" tIns="0" rIns="0" bIns="0">
            <a:spAutoFit/>
          </a:bodyPr>
          <a:lstStyle/>
          <a:p>
            <a:pPr algn="l">
              <a:lnSpc>
                <a:spcPct val="100000"/>
              </a:lnSpc>
              <a:spcAft>
                <a:spcPts val="0"/>
              </a:spcAft>
            </a:pPr>
            <a:r>
              <a:rPr sz="1800" b="0" i="0">
                <a:solidFill>
                  <a:srgbClr val="D3E2F0"/>
                </a:solidFill>
                <a:latin typeface="Calibri"/>
              </a:rPr>
              <a:t>Detection (6 typologies + dual ML) · Investigation (case lifecycle) · AI Orchestration</a:t>
            </a:r>
            <a:endParaRPr sz="1800" b="0" i="0">
              <a:solidFill>
                <a:srgbClr val="D3E2F0"/>
              </a:solidFill>
              <a:latin typeface="Calibri"/>
            </a:endParaRPr>
          </a:p>
        </p:txBody>
      </p:sp>
      <p:sp>
        <p:nvSpPr>
          <p:cNvPr id="15" name="Rounded Rectangle 14"/>
          <p:cNvSpPr/>
          <p:nvPr/>
        </p:nvSpPr>
        <p:spPr>
          <a:xfrm>
            <a:off x="621792" y="4169664"/>
            <a:ext cx="10948111" cy="731520"/>
          </a:xfrm>
          <a:prstGeom prst="roundRect">
            <a:avLst>
              <a:gd name="adj" fmla="val 4000"/>
            </a:avLst>
          </a:prstGeom>
          <a:solidFill>
            <a:srgbClr val="3674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261104"/>
            <a:ext cx="4572000" cy="309879"/>
          </a:xfrm>
          <a:prstGeom prst="rect">
            <a:avLst/>
          </a:prstGeom>
          <a:noFill/>
        </p:spPr>
        <p:txBody>
          <a:bodyPr wrap="square" lIns="0" tIns="0" rIns="0" bIns="0">
            <a:spAutoFit/>
          </a:bodyPr>
          <a:lstStyle/>
          <a:p>
            <a:pPr algn="l">
              <a:lnSpc>
                <a:spcPct val="100000"/>
              </a:lnSpc>
              <a:spcAft>
                <a:spcPts val="0"/>
              </a:spcAft>
            </a:pPr>
            <a:r>
              <a:rPr sz="2000" b="1" i="0">
                <a:solidFill>
                  <a:srgbClr val="FFFFFF"/>
                </a:solidFill>
                <a:latin typeface="Calibri"/>
              </a:rPr>
              <a:t>PLATFORM</a:t>
            </a:r>
            <a:endParaRPr sz="2000" b="1" i="0">
              <a:solidFill>
                <a:srgbClr val="FFFFFF"/>
              </a:solidFill>
              <a:latin typeface="Calibri"/>
            </a:endParaRPr>
          </a:p>
        </p:txBody>
      </p:sp>
      <p:sp>
        <p:nvSpPr>
          <p:cNvPr id="17" name="TextBox 16"/>
          <p:cNvSpPr txBox="1"/>
          <p:nvPr/>
        </p:nvSpPr>
        <p:spPr>
          <a:xfrm>
            <a:off x="932688" y="4590288"/>
            <a:ext cx="10326319" cy="278892"/>
          </a:xfrm>
          <a:prstGeom prst="rect">
            <a:avLst/>
          </a:prstGeom>
          <a:noFill/>
        </p:spPr>
        <p:txBody>
          <a:bodyPr wrap="square" lIns="0" tIns="0" rIns="0" bIns="0">
            <a:spAutoFit/>
          </a:bodyPr>
          <a:lstStyle/>
          <a:p>
            <a:pPr algn="l">
              <a:lnSpc>
                <a:spcPct val="100000"/>
              </a:lnSpc>
              <a:spcAft>
                <a:spcPts val="0"/>
              </a:spcAft>
            </a:pPr>
            <a:r>
              <a:rPr sz="1800" b="0" i="0">
                <a:solidFill>
                  <a:srgbClr val="D3E2F0"/>
                </a:solidFill>
                <a:latin typeface="Calibri"/>
              </a:rPr>
              <a:t>Event log, health probes, audit chain, model governance, PII egress gate</a:t>
            </a:r>
            <a:endParaRPr sz="1800" b="0" i="0">
              <a:solidFill>
                <a:srgbClr val="D3E2F0"/>
              </a:solidFill>
              <a:latin typeface="Calibri"/>
            </a:endParaRPr>
          </a:p>
        </p:txBody>
      </p:sp>
      <p:sp>
        <p:nvSpPr>
          <p:cNvPr id="18" name="Rounded Rectangle 17"/>
          <p:cNvSpPr/>
          <p:nvPr/>
        </p:nvSpPr>
        <p:spPr>
          <a:xfrm>
            <a:off x="621792" y="4992624"/>
            <a:ext cx="10948111" cy="731520"/>
          </a:xfrm>
          <a:prstGeom prst="roundRect">
            <a:avLst>
              <a:gd name="adj" fmla="val 4000"/>
            </a:avLst>
          </a:prstGeom>
          <a:solidFill>
            <a:srgbClr val="4C8C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084064"/>
            <a:ext cx="4572000" cy="309879"/>
          </a:xfrm>
          <a:prstGeom prst="rect">
            <a:avLst/>
          </a:prstGeom>
          <a:noFill/>
        </p:spPr>
        <p:txBody>
          <a:bodyPr wrap="square" lIns="0" tIns="0" rIns="0" bIns="0">
            <a:spAutoFit/>
          </a:bodyPr>
          <a:lstStyle/>
          <a:p>
            <a:pPr algn="l">
              <a:lnSpc>
                <a:spcPct val="100000"/>
              </a:lnSpc>
              <a:spcAft>
                <a:spcPts val="0"/>
              </a:spcAft>
            </a:pPr>
            <a:r>
              <a:rPr sz="2000" b="1" i="0">
                <a:solidFill>
                  <a:srgbClr val="FFFFFF"/>
                </a:solidFill>
                <a:latin typeface="Calibri"/>
              </a:rPr>
              <a:t>DATA</a:t>
            </a:r>
            <a:endParaRPr sz="2000" b="1" i="0">
              <a:solidFill>
                <a:srgbClr val="FFFFFF"/>
              </a:solidFill>
              <a:latin typeface="Calibri"/>
            </a:endParaRPr>
          </a:p>
        </p:txBody>
      </p:sp>
      <p:sp>
        <p:nvSpPr>
          <p:cNvPr id="20" name="TextBox 19"/>
          <p:cNvSpPr txBox="1"/>
          <p:nvPr/>
        </p:nvSpPr>
        <p:spPr>
          <a:xfrm>
            <a:off x="932688" y="5413248"/>
            <a:ext cx="10326319" cy="278892"/>
          </a:xfrm>
          <a:prstGeom prst="rect">
            <a:avLst/>
          </a:prstGeom>
          <a:noFill/>
        </p:spPr>
        <p:txBody>
          <a:bodyPr wrap="square" lIns="0" tIns="0" rIns="0" bIns="0">
            <a:spAutoFit/>
          </a:bodyPr>
          <a:lstStyle/>
          <a:p>
            <a:pPr algn="l">
              <a:lnSpc>
                <a:spcPct val="100000"/>
              </a:lnSpc>
              <a:spcAft>
                <a:spcPts val="0"/>
              </a:spcAft>
            </a:pPr>
            <a:r>
              <a:rPr sz="1800" b="0" i="0">
                <a:solidFill>
                  <a:srgbClr val="D3E2F0"/>
                </a:solidFill>
                <a:latin typeface="Calibri"/>
              </a:rPr>
              <a:t>One audited store — SQLite for pilot, PostgreSQL for production, one repository interface</a:t>
            </a:r>
            <a:endParaRPr sz="1800" b="0" i="0">
              <a:solidFill>
                <a:srgbClr val="D3E2F0"/>
              </a:solidFill>
              <a:latin typeface="Calibri"/>
            </a:endParaRPr>
          </a:p>
        </p:txBody>
      </p:sp>
      <p:sp>
        <p:nvSpPr>
          <p:cNvPr id="21" name="Rounded Rectangle 20"/>
          <p:cNvSpPr/>
          <p:nvPr/>
        </p:nvSpPr>
        <p:spPr>
          <a:xfrm>
            <a:off x="621792" y="5870448"/>
            <a:ext cx="10948111" cy="475488"/>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5961888"/>
            <a:ext cx="10948111" cy="294386"/>
          </a:xfrm>
          <a:prstGeom prst="rect">
            <a:avLst/>
          </a:prstGeom>
          <a:noFill/>
        </p:spPr>
        <p:txBody>
          <a:bodyPr wrap="square" lIns="0" tIns="0" rIns="0" bIns="0">
            <a:spAutoFit/>
          </a:bodyPr>
          <a:lstStyle/>
          <a:p>
            <a:pPr algn="ctr">
              <a:lnSpc>
                <a:spcPct val="100000"/>
              </a:lnSpc>
              <a:spcAft>
                <a:spcPts val="0"/>
              </a:spcAft>
            </a:pPr>
            <a:r>
              <a:rPr sz="1900" b="1" i="0">
                <a:solidFill>
                  <a:srgbClr val="12365E"/>
                </a:solidFill>
                <a:latin typeface="Calibri"/>
              </a:rPr>
              <a:t>The AI layer is the only one that leaves the boundary — through a fail-closed PII gate.</a:t>
            </a:r>
            <a:endParaRPr sz="1900" b="1" i="0">
              <a:solidFill>
                <a:srgbClr val="12365E"/>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APPENDIX A2 — NOT PRESENTED</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Six typologies. Two models. One graph.</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847088"/>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LAYERING</a:t>
            </a:r>
            <a:endParaRPr sz="1900" b="1" i="0">
              <a:solidFill>
                <a:srgbClr val="C8102E"/>
              </a:solidFill>
              <a:latin typeface="Calibri"/>
            </a:endParaRPr>
          </a:p>
        </p:txBody>
      </p:sp>
      <p:sp>
        <p:nvSpPr>
          <p:cNvPr id="8" name="TextBox 7"/>
          <p:cNvSpPr txBox="1"/>
          <p:nvPr/>
        </p:nvSpPr>
        <p:spPr>
          <a:xfrm>
            <a:off x="859536" y="2194560"/>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Multi-hop chains that break the trail</a:t>
            </a:r>
            <a:endParaRPr sz="1800" b="0" i="0">
              <a:solidFill>
                <a:srgbClr val="59697D"/>
              </a:solidFill>
              <a:latin typeface="Calibri"/>
            </a:endParaRPr>
          </a:p>
        </p:txBody>
      </p:sp>
      <p:sp>
        <p:nvSpPr>
          <p:cNvPr id="9" name="Rounded Rectangle 8"/>
          <p:cNvSpPr/>
          <p:nvPr/>
        </p:nvSpPr>
        <p:spPr>
          <a:xfrm>
            <a:off x="4350410" y="1700784"/>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8154" y="1847088"/>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ROUND-TRIPPING</a:t>
            </a:r>
            <a:endParaRPr sz="1900" b="1" i="0">
              <a:solidFill>
                <a:srgbClr val="C8102E"/>
              </a:solidFill>
              <a:latin typeface="Calibri"/>
            </a:endParaRPr>
          </a:p>
        </p:txBody>
      </p:sp>
      <p:sp>
        <p:nvSpPr>
          <p:cNvPr id="11" name="TextBox 10"/>
          <p:cNvSpPr txBox="1"/>
          <p:nvPr/>
        </p:nvSpPr>
        <p:spPr>
          <a:xfrm>
            <a:off x="4588154" y="2194560"/>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Circular flows returning funds to origin</a:t>
            </a:r>
            <a:endParaRPr sz="1800" b="0" i="0">
              <a:solidFill>
                <a:srgbClr val="59697D"/>
              </a:solidFill>
              <a:latin typeface="Calibri"/>
            </a:endParaRPr>
          </a:p>
        </p:txBody>
      </p:sp>
      <p:sp>
        <p:nvSpPr>
          <p:cNvPr id="12" name="Rounded Rectangle 11"/>
          <p:cNvSpPr/>
          <p:nvPr/>
        </p:nvSpPr>
        <p:spPr>
          <a:xfrm>
            <a:off x="8079028" y="1700784"/>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6772" y="1847088"/>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STRUCTURING</a:t>
            </a:r>
            <a:endParaRPr sz="1900" b="1" i="0">
              <a:solidFill>
                <a:srgbClr val="C8102E"/>
              </a:solidFill>
              <a:latin typeface="Calibri"/>
            </a:endParaRPr>
          </a:p>
        </p:txBody>
      </p:sp>
      <p:sp>
        <p:nvSpPr>
          <p:cNvPr id="14" name="TextBox 13"/>
          <p:cNvSpPr txBox="1"/>
          <p:nvPr/>
        </p:nvSpPr>
        <p:spPr>
          <a:xfrm>
            <a:off x="8316772" y="2194560"/>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Transactions kept below the ₹10L threshold</a:t>
            </a:r>
            <a:endParaRPr sz="1800" b="0" i="0">
              <a:solidFill>
                <a:srgbClr val="59697D"/>
              </a:solidFill>
              <a:latin typeface="Calibri"/>
            </a:endParaRPr>
          </a:p>
        </p:txBody>
      </p:sp>
      <p:sp>
        <p:nvSpPr>
          <p:cNvPr id="15" name="Rounded Rectangle 14"/>
          <p:cNvSpPr/>
          <p:nvPr/>
        </p:nvSpPr>
        <p:spPr>
          <a:xfrm>
            <a:off x="621792" y="2999232"/>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145536"/>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DORMANCY</a:t>
            </a:r>
            <a:endParaRPr sz="1900" b="1" i="0">
              <a:solidFill>
                <a:srgbClr val="C8102E"/>
              </a:solidFill>
              <a:latin typeface="Calibri"/>
            </a:endParaRPr>
          </a:p>
        </p:txBody>
      </p:sp>
      <p:sp>
        <p:nvSpPr>
          <p:cNvPr id="17" name="TextBox 16"/>
          <p:cNvSpPr txBox="1"/>
          <p:nvPr/>
        </p:nvSpPr>
        <p:spPr>
          <a:xfrm>
            <a:off x="859536" y="3493008"/>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Long-dormant accounts suddenly reactivated</a:t>
            </a:r>
            <a:endParaRPr sz="1800" b="0" i="0">
              <a:solidFill>
                <a:srgbClr val="59697D"/>
              </a:solidFill>
              <a:latin typeface="Calibri"/>
            </a:endParaRPr>
          </a:p>
        </p:txBody>
      </p:sp>
      <p:sp>
        <p:nvSpPr>
          <p:cNvPr id="18" name="Rounded Rectangle 17"/>
          <p:cNvSpPr/>
          <p:nvPr/>
        </p:nvSpPr>
        <p:spPr>
          <a:xfrm>
            <a:off x="4350410" y="2999232"/>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8154" y="3145536"/>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PROFILE MISMATCH</a:t>
            </a:r>
            <a:endParaRPr sz="1900" b="1" i="0">
              <a:solidFill>
                <a:srgbClr val="C8102E"/>
              </a:solidFill>
              <a:latin typeface="Calibri"/>
            </a:endParaRPr>
          </a:p>
        </p:txBody>
      </p:sp>
      <p:sp>
        <p:nvSpPr>
          <p:cNvPr id="20" name="TextBox 19"/>
          <p:cNvSpPr txBox="1"/>
          <p:nvPr/>
        </p:nvSpPr>
        <p:spPr>
          <a:xfrm>
            <a:off x="4588154" y="3493008"/>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Behaviour inconsistent with declared income</a:t>
            </a:r>
            <a:endParaRPr sz="1800" b="0" i="0">
              <a:solidFill>
                <a:srgbClr val="59697D"/>
              </a:solidFill>
              <a:latin typeface="Calibri"/>
            </a:endParaRPr>
          </a:p>
        </p:txBody>
      </p:sp>
      <p:sp>
        <p:nvSpPr>
          <p:cNvPr id="21" name="Rounded Rectangle 20"/>
          <p:cNvSpPr/>
          <p:nvPr/>
        </p:nvSpPr>
        <p:spPr>
          <a:xfrm>
            <a:off x="8079028" y="2999232"/>
            <a:ext cx="3490874" cy="11704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6772" y="3145536"/>
            <a:ext cx="3015386" cy="294386"/>
          </a:xfrm>
          <a:prstGeom prst="rect">
            <a:avLst/>
          </a:prstGeom>
          <a:noFill/>
        </p:spPr>
        <p:txBody>
          <a:bodyPr wrap="square" lIns="0" tIns="0" rIns="0" bIns="0">
            <a:spAutoFit/>
          </a:bodyPr>
          <a:lstStyle/>
          <a:p>
            <a:pPr algn="l">
              <a:lnSpc>
                <a:spcPct val="100000"/>
              </a:lnSpc>
              <a:spcAft>
                <a:spcPts val="0"/>
              </a:spcAft>
            </a:pPr>
            <a:r>
              <a:rPr sz="1900" b="1" i="0">
                <a:solidFill>
                  <a:srgbClr val="C8102E"/>
                </a:solidFill>
                <a:latin typeface="Calibri"/>
              </a:rPr>
              <a:t>MULE NETWORKS</a:t>
            </a:r>
            <a:endParaRPr sz="1900" b="1" i="0">
              <a:solidFill>
                <a:srgbClr val="C8102E"/>
              </a:solidFill>
              <a:latin typeface="Calibri"/>
            </a:endParaRPr>
          </a:p>
        </p:txBody>
      </p:sp>
      <p:sp>
        <p:nvSpPr>
          <p:cNvPr id="23" name="TextBox 22"/>
          <p:cNvSpPr txBox="1"/>
          <p:nvPr/>
        </p:nvSpPr>
        <p:spPr>
          <a:xfrm>
            <a:off x="8316772" y="3493008"/>
            <a:ext cx="3015386" cy="580095"/>
          </a:xfrm>
          <a:prstGeom prst="rect">
            <a:avLst/>
          </a:prstGeom>
          <a:noFill/>
        </p:spPr>
        <p:txBody>
          <a:bodyPr wrap="square" lIns="0" tIns="0" rIns="0" bIns="0">
            <a:spAutoFit/>
          </a:bodyPr>
          <a:lstStyle/>
          <a:p>
            <a:pPr algn="l">
              <a:lnSpc>
                <a:spcPct val="104000"/>
              </a:lnSpc>
              <a:spcAft>
                <a:spcPts val="0"/>
              </a:spcAft>
            </a:pPr>
            <a:r>
              <a:rPr sz="1800" b="0" i="0">
                <a:solidFill>
                  <a:srgbClr val="59697D"/>
                </a:solidFill>
                <a:latin typeface="Calibri"/>
              </a:rPr>
              <a:t>Fan-out / fan-in intermediary patterns</a:t>
            </a:r>
            <a:endParaRPr sz="1800" b="0" i="0">
              <a:solidFill>
                <a:srgbClr val="59697D"/>
              </a:solidFill>
              <a:latin typeface="Calibri"/>
            </a:endParaRPr>
          </a:p>
        </p:txBody>
      </p:sp>
      <p:sp>
        <p:nvSpPr>
          <p:cNvPr id="24" name="Rounded Rectangle 23"/>
          <p:cNvSpPr/>
          <p:nvPr/>
        </p:nvSpPr>
        <p:spPr>
          <a:xfrm>
            <a:off x="621792" y="4334256"/>
            <a:ext cx="5336895" cy="1481328"/>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4517136"/>
            <a:ext cx="4788255"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WHY TWO ML MODELS</a:t>
            </a:r>
            <a:endParaRPr sz="1900" b="1" i="0">
              <a:solidFill>
                <a:srgbClr val="12365E"/>
              </a:solidFill>
              <a:latin typeface="Calibri"/>
            </a:endParaRPr>
          </a:p>
        </p:txBody>
      </p:sp>
      <p:sp>
        <p:nvSpPr>
          <p:cNvPr id="26" name="TextBox 25"/>
          <p:cNvSpPr txBox="1"/>
          <p:nvPr/>
        </p:nvSpPr>
        <p:spPr>
          <a:xfrm>
            <a:off x="896112" y="4901184"/>
            <a:ext cx="4788255" cy="619231"/>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Isolation Forest — unsupervised from day one</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XGBoost — sharper once real verdicts exist</a:t>
            </a:r>
            <a:endParaRPr sz="1800" b="0" i="0">
              <a:solidFill>
                <a:srgbClr val="0D1B2A"/>
              </a:solidFill>
              <a:latin typeface="Calibri"/>
            </a:endParaRPr>
          </a:p>
        </p:txBody>
      </p:sp>
      <p:sp>
        <p:nvSpPr>
          <p:cNvPr id="27" name="Rounded Rectangle 26"/>
          <p:cNvSpPr/>
          <p:nvPr/>
        </p:nvSpPr>
        <p:spPr>
          <a:xfrm>
            <a:off x="6233007" y="4334256"/>
            <a:ext cx="5336895" cy="1481328"/>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7327" y="4517136"/>
            <a:ext cx="4788255"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ENSEMBLED, NEVER SOLO</a:t>
            </a:r>
            <a:endParaRPr sz="1900" b="1" i="0">
              <a:solidFill>
                <a:srgbClr val="12365E"/>
              </a:solidFill>
              <a:latin typeface="Calibri"/>
            </a:endParaRPr>
          </a:p>
        </p:txBody>
      </p:sp>
      <p:sp>
        <p:nvSpPr>
          <p:cNvPr id="29" name="TextBox 28"/>
          <p:cNvSpPr txBox="1"/>
          <p:nvPr/>
        </p:nvSpPr>
        <p:spPr>
          <a:xfrm>
            <a:off x="6507327" y="4901184"/>
            <a:ext cx="4788255" cy="619231"/>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Flagged when rules, graph and ML converge</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No single model's blind spot sinks the score</a:t>
            </a:r>
            <a:endParaRPr sz="1800" b="0" i="0">
              <a:solidFill>
                <a:srgbClr val="0D1B2A"/>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APPENDIX A3 — NOT PRESENTED</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Every obligation, mapped to a control.</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10948111" cy="484632"/>
          </a:xfrm>
          <a:prstGeom prst="roundRect">
            <a:avLst>
              <a:gd name="adj" fmla="val 4000"/>
            </a:avLst>
          </a:prstGeom>
          <a:solidFill>
            <a:srgbClr val="1236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810512"/>
            <a:ext cx="2743200" cy="278892"/>
          </a:xfrm>
          <a:prstGeom prst="rect">
            <a:avLst/>
          </a:prstGeom>
          <a:noFill/>
        </p:spPr>
        <p:txBody>
          <a:bodyPr wrap="square" lIns="0" tIns="0" rIns="0" bIns="0">
            <a:spAutoFit/>
          </a:bodyPr>
          <a:lstStyle/>
          <a:p>
            <a:pPr algn="l">
              <a:lnSpc>
                <a:spcPct val="100000"/>
              </a:lnSpc>
              <a:spcAft>
                <a:spcPts val="0"/>
              </a:spcAft>
            </a:pPr>
            <a:r>
              <a:rPr sz="1800" b="1" i="0">
                <a:solidFill>
                  <a:srgbClr val="FFFFFF"/>
                </a:solidFill>
                <a:latin typeface="Calibri"/>
              </a:rPr>
              <a:t>REGULATION</a:t>
            </a:r>
            <a:endParaRPr sz="1800" b="1" i="0">
              <a:solidFill>
                <a:srgbClr val="FFFFFF"/>
              </a:solidFill>
              <a:latin typeface="Calibri"/>
            </a:endParaRPr>
          </a:p>
        </p:txBody>
      </p:sp>
      <p:sp>
        <p:nvSpPr>
          <p:cNvPr id="8" name="TextBox 7"/>
          <p:cNvSpPr txBox="1"/>
          <p:nvPr/>
        </p:nvSpPr>
        <p:spPr>
          <a:xfrm>
            <a:off x="3785615" y="1810512"/>
            <a:ext cx="2743200" cy="278892"/>
          </a:xfrm>
          <a:prstGeom prst="rect">
            <a:avLst/>
          </a:prstGeom>
          <a:noFill/>
        </p:spPr>
        <p:txBody>
          <a:bodyPr wrap="square" lIns="0" tIns="0" rIns="0" bIns="0">
            <a:spAutoFit/>
          </a:bodyPr>
          <a:lstStyle/>
          <a:p>
            <a:pPr algn="l">
              <a:lnSpc>
                <a:spcPct val="100000"/>
              </a:lnSpc>
              <a:spcAft>
                <a:spcPts val="0"/>
              </a:spcAft>
            </a:pPr>
            <a:r>
              <a:rPr sz="1800" b="1" i="0">
                <a:solidFill>
                  <a:srgbClr val="FFFFFF"/>
                </a:solidFill>
                <a:latin typeface="Calibri"/>
              </a:rPr>
              <a:t>OBLIGATION</a:t>
            </a:r>
            <a:endParaRPr sz="1800" b="1" i="0">
              <a:solidFill>
                <a:srgbClr val="FFFFFF"/>
              </a:solidFill>
              <a:latin typeface="Calibri"/>
            </a:endParaRPr>
          </a:p>
        </p:txBody>
      </p:sp>
      <p:sp>
        <p:nvSpPr>
          <p:cNvPr id="9" name="TextBox 8"/>
          <p:cNvSpPr txBox="1"/>
          <p:nvPr/>
        </p:nvSpPr>
        <p:spPr>
          <a:xfrm>
            <a:off x="6803136" y="1810512"/>
            <a:ext cx="4754880" cy="278892"/>
          </a:xfrm>
          <a:prstGeom prst="rect">
            <a:avLst/>
          </a:prstGeom>
          <a:noFill/>
        </p:spPr>
        <p:txBody>
          <a:bodyPr wrap="square" lIns="0" tIns="0" rIns="0" bIns="0">
            <a:spAutoFit/>
          </a:bodyPr>
          <a:lstStyle/>
          <a:p>
            <a:pPr algn="l">
              <a:lnSpc>
                <a:spcPct val="100000"/>
              </a:lnSpc>
              <a:spcAft>
                <a:spcPts val="0"/>
              </a:spcAft>
            </a:pPr>
            <a:r>
              <a:rPr sz="1800" b="1" i="0">
                <a:solidFill>
                  <a:srgbClr val="FFFFFF"/>
                </a:solidFill>
                <a:latin typeface="Calibri"/>
              </a:rPr>
              <a:t>HOW TRACEX MEETS IT</a:t>
            </a:r>
            <a:endParaRPr sz="1800" b="1" i="0">
              <a:solidFill>
                <a:srgbClr val="FFFFFF"/>
              </a:solidFill>
              <a:latin typeface="Calibri"/>
            </a:endParaRPr>
          </a:p>
        </p:txBody>
      </p:sp>
      <p:sp>
        <p:nvSpPr>
          <p:cNvPr id="10" name="Rounded Rectangle 9"/>
          <p:cNvSpPr/>
          <p:nvPr/>
        </p:nvSpPr>
        <p:spPr>
          <a:xfrm>
            <a:off x="621792" y="2231136"/>
            <a:ext cx="10948111" cy="4846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340864"/>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DPDP 2023 §7 / §17</a:t>
            </a:r>
            <a:endParaRPr sz="1800" b="0" i="0">
              <a:solidFill>
                <a:srgbClr val="12365E"/>
              </a:solidFill>
              <a:latin typeface="Calibri"/>
            </a:endParaRPr>
          </a:p>
        </p:txBody>
      </p:sp>
      <p:sp>
        <p:nvSpPr>
          <p:cNvPr id="12" name="TextBox 11"/>
          <p:cNvSpPr txBox="1"/>
          <p:nvPr/>
        </p:nvSpPr>
        <p:spPr>
          <a:xfrm>
            <a:off x="3785615" y="2340864"/>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Legal ground for AML</a:t>
            </a:r>
            <a:endParaRPr sz="1800" b="0" i="0">
              <a:solidFill>
                <a:srgbClr val="0D1B2A"/>
              </a:solidFill>
              <a:latin typeface="Calibri"/>
            </a:endParaRPr>
          </a:p>
        </p:txBody>
      </p:sp>
      <p:sp>
        <p:nvSpPr>
          <p:cNvPr id="13" name="TextBox 12"/>
          <p:cNvSpPr txBox="1"/>
          <p:nvPr/>
        </p:nvSpPr>
        <p:spPr>
          <a:xfrm>
            <a:off x="6803136" y="2340864"/>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No consent flow; purpose limits in code</a:t>
            </a:r>
            <a:endParaRPr sz="1800" b="0" i="0">
              <a:solidFill>
                <a:srgbClr val="0D1B2A"/>
              </a:solidFill>
              <a:latin typeface="Calibri"/>
            </a:endParaRPr>
          </a:p>
        </p:txBody>
      </p:sp>
      <p:sp>
        <p:nvSpPr>
          <p:cNvPr id="14" name="Rounded Rectangle 13"/>
          <p:cNvSpPr/>
          <p:nvPr/>
        </p:nvSpPr>
        <p:spPr>
          <a:xfrm>
            <a:off x="621792" y="2761488"/>
            <a:ext cx="10948111" cy="4846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871216"/>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DPDP 2023 §8(5)</a:t>
            </a:r>
            <a:endParaRPr sz="1800" b="0" i="0">
              <a:solidFill>
                <a:srgbClr val="12365E"/>
              </a:solidFill>
              <a:latin typeface="Calibri"/>
            </a:endParaRPr>
          </a:p>
        </p:txBody>
      </p:sp>
      <p:sp>
        <p:nvSpPr>
          <p:cNvPr id="16" name="TextBox 15"/>
          <p:cNvSpPr txBox="1"/>
          <p:nvPr/>
        </p:nvSpPr>
        <p:spPr>
          <a:xfrm>
            <a:off x="3785615" y="2871216"/>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Security safeguards</a:t>
            </a:r>
            <a:endParaRPr sz="1800" b="0" i="0">
              <a:solidFill>
                <a:srgbClr val="0D1B2A"/>
              </a:solidFill>
              <a:latin typeface="Calibri"/>
            </a:endParaRPr>
          </a:p>
        </p:txBody>
      </p:sp>
      <p:sp>
        <p:nvSpPr>
          <p:cNvPr id="17" name="TextBox 16"/>
          <p:cNvSpPr txBox="1"/>
          <p:nvPr/>
        </p:nvSpPr>
        <p:spPr>
          <a:xfrm>
            <a:off x="6803136" y="2871216"/>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Tokenisation, RBAC, hardened containers, audit</a:t>
            </a:r>
            <a:endParaRPr sz="1800" b="0" i="0">
              <a:solidFill>
                <a:srgbClr val="0D1B2A"/>
              </a:solidFill>
              <a:latin typeface="Calibri"/>
            </a:endParaRPr>
          </a:p>
        </p:txBody>
      </p:sp>
      <p:sp>
        <p:nvSpPr>
          <p:cNvPr id="18" name="Rounded Rectangle 17"/>
          <p:cNvSpPr/>
          <p:nvPr/>
        </p:nvSpPr>
        <p:spPr>
          <a:xfrm>
            <a:off x="621792" y="3291840"/>
            <a:ext cx="10948111" cy="4846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3401568"/>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DPDP 2023 §8(7)</a:t>
            </a:r>
            <a:endParaRPr sz="1800" b="0" i="0">
              <a:solidFill>
                <a:srgbClr val="12365E"/>
              </a:solidFill>
              <a:latin typeface="Calibri"/>
            </a:endParaRPr>
          </a:p>
        </p:txBody>
      </p:sp>
      <p:sp>
        <p:nvSpPr>
          <p:cNvPr id="20" name="TextBox 19"/>
          <p:cNvSpPr txBox="1"/>
          <p:nvPr/>
        </p:nvSpPr>
        <p:spPr>
          <a:xfrm>
            <a:off x="3785615" y="3401568"/>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Erasure vs. legal retention</a:t>
            </a:r>
            <a:endParaRPr sz="1800" b="0" i="0">
              <a:solidFill>
                <a:srgbClr val="0D1B2A"/>
              </a:solidFill>
              <a:latin typeface="Calibri"/>
            </a:endParaRPr>
          </a:p>
        </p:txBody>
      </p:sp>
      <p:sp>
        <p:nvSpPr>
          <p:cNvPr id="21" name="TextBox 20"/>
          <p:cNvSpPr txBox="1"/>
          <p:nvPr/>
        </p:nvSpPr>
        <p:spPr>
          <a:xfrm>
            <a:off x="6803136" y="3401568"/>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PMLA's 5-year mandate governs retention</a:t>
            </a:r>
            <a:endParaRPr sz="1800" b="0" i="0">
              <a:solidFill>
                <a:srgbClr val="0D1B2A"/>
              </a:solidFill>
              <a:latin typeface="Calibri"/>
            </a:endParaRPr>
          </a:p>
        </p:txBody>
      </p:sp>
      <p:sp>
        <p:nvSpPr>
          <p:cNvPr id="22" name="Rounded Rectangle 21"/>
          <p:cNvSpPr/>
          <p:nvPr/>
        </p:nvSpPr>
        <p:spPr>
          <a:xfrm>
            <a:off x="621792" y="3822192"/>
            <a:ext cx="10948111" cy="4846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3931920"/>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DPDP 2023 §8(6)</a:t>
            </a:r>
            <a:endParaRPr sz="1800" b="0" i="0">
              <a:solidFill>
                <a:srgbClr val="12365E"/>
              </a:solidFill>
              <a:latin typeface="Calibri"/>
            </a:endParaRPr>
          </a:p>
        </p:txBody>
      </p:sp>
      <p:sp>
        <p:nvSpPr>
          <p:cNvPr id="24" name="TextBox 23"/>
          <p:cNvSpPr txBox="1"/>
          <p:nvPr/>
        </p:nvSpPr>
        <p:spPr>
          <a:xfrm>
            <a:off x="3785615" y="3931920"/>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Breach notification duty</a:t>
            </a:r>
            <a:endParaRPr sz="1800" b="0" i="0">
              <a:solidFill>
                <a:srgbClr val="0D1B2A"/>
              </a:solidFill>
              <a:latin typeface="Calibri"/>
            </a:endParaRPr>
          </a:p>
        </p:txBody>
      </p:sp>
      <p:sp>
        <p:nvSpPr>
          <p:cNvPr id="25" name="TextBox 24"/>
          <p:cNvSpPr txBox="1"/>
          <p:nvPr/>
        </p:nvSpPr>
        <p:spPr>
          <a:xfrm>
            <a:off x="6803136" y="3931920"/>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Audit chain shows what was accessed, by whom</a:t>
            </a:r>
            <a:endParaRPr sz="1800" b="0" i="0">
              <a:solidFill>
                <a:srgbClr val="0D1B2A"/>
              </a:solidFill>
              <a:latin typeface="Calibri"/>
            </a:endParaRPr>
          </a:p>
        </p:txBody>
      </p:sp>
      <p:sp>
        <p:nvSpPr>
          <p:cNvPr id="26" name="Rounded Rectangle 25"/>
          <p:cNvSpPr/>
          <p:nvPr/>
        </p:nvSpPr>
        <p:spPr>
          <a:xfrm>
            <a:off x="621792" y="4352544"/>
            <a:ext cx="10948111" cy="4846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4462272"/>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PMLA 2002 §12</a:t>
            </a:r>
            <a:endParaRPr sz="1800" b="0" i="0">
              <a:solidFill>
                <a:srgbClr val="12365E"/>
              </a:solidFill>
              <a:latin typeface="Calibri"/>
            </a:endParaRPr>
          </a:p>
        </p:txBody>
      </p:sp>
      <p:sp>
        <p:nvSpPr>
          <p:cNvPr id="28" name="TextBox 27"/>
          <p:cNvSpPr txBox="1"/>
          <p:nvPr/>
        </p:nvSpPr>
        <p:spPr>
          <a:xfrm>
            <a:off x="3785615" y="4462272"/>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5-year record retention</a:t>
            </a:r>
            <a:endParaRPr sz="1800" b="0" i="0">
              <a:solidFill>
                <a:srgbClr val="0D1B2A"/>
              </a:solidFill>
              <a:latin typeface="Calibri"/>
            </a:endParaRPr>
          </a:p>
        </p:txBody>
      </p:sp>
      <p:sp>
        <p:nvSpPr>
          <p:cNvPr id="29" name="TextBox 28"/>
          <p:cNvSpPr txBox="1"/>
          <p:nvPr/>
        </p:nvSpPr>
        <p:spPr>
          <a:xfrm>
            <a:off x="6803136" y="4462272"/>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Transactions, cases, STRs and audit log</a:t>
            </a:r>
            <a:endParaRPr sz="1800" b="0" i="0">
              <a:solidFill>
                <a:srgbClr val="0D1B2A"/>
              </a:solidFill>
              <a:latin typeface="Calibri"/>
            </a:endParaRPr>
          </a:p>
        </p:txBody>
      </p:sp>
      <p:sp>
        <p:nvSpPr>
          <p:cNvPr id="30" name="Rounded Rectangle 29"/>
          <p:cNvSpPr/>
          <p:nvPr/>
        </p:nvSpPr>
        <p:spPr>
          <a:xfrm>
            <a:off x="621792" y="4882896"/>
            <a:ext cx="10948111" cy="4846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992624"/>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RBI KYC Master Direction</a:t>
            </a:r>
            <a:endParaRPr sz="1800" b="0" i="0">
              <a:solidFill>
                <a:srgbClr val="12365E"/>
              </a:solidFill>
              <a:latin typeface="Calibri"/>
            </a:endParaRPr>
          </a:p>
        </p:txBody>
      </p:sp>
      <p:sp>
        <p:nvSpPr>
          <p:cNvPr id="32" name="TextBox 31"/>
          <p:cNvSpPr txBox="1"/>
          <p:nvPr/>
        </p:nvSpPr>
        <p:spPr>
          <a:xfrm>
            <a:off x="3785615" y="4992624"/>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KYC and dormant accounts</a:t>
            </a:r>
            <a:endParaRPr sz="1800" b="0" i="0">
              <a:solidFill>
                <a:srgbClr val="0D1B2A"/>
              </a:solidFill>
              <a:latin typeface="Calibri"/>
            </a:endParaRPr>
          </a:p>
        </p:txBody>
      </p:sp>
      <p:sp>
        <p:nvSpPr>
          <p:cNvPr id="33" name="TextBox 32"/>
          <p:cNvSpPr txBox="1"/>
          <p:nvPr/>
        </p:nvSpPr>
        <p:spPr>
          <a:xfrm>
            <a:off x="6803136" y="4992624"/>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Dormancy detector; 5-year retention</a:t>
            </a:r>
            <a:endParaRPr sz="1800" b="0" i="0">
              <a:solidFill>
                <a:srgbClr val="0D1B2A"/>
              </a:solidFill>
              <a:latin typeface="Calibri"/>
            </a:endParaRPr>
          </a:p>
        </p:txBody>
      </p:sp>
      <p:sp>
        <p:nvSpPr>
          <p:cNvPr id="34" name="Rounded Rectangle 33"/>
          <p:cNvSpPr/>
          <p:nvPr/>
        </p:nvSpPr>
        <p:spPr>
          <a:xfrm>
            <a:off x="621792" y="5413248"/>
            <a:ext cx="10948111" cy="484632"/>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5522976"/>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12365E"/>
                </a:solidFill>
                <a:latin typeface="Calibri"/>
              </a:rPr>
              <a:t>FATF Recs. 10 &amp; 20</a:t>
            </a:r>
            <a:endParaRPr sz="1800" b="0" i="0">
              <a:solidFill>
                <a:srgbClr val="12365E"/>
              </a:solidFill>
              <a:latin typeface="Calibri"/>
            </a:endParaRPr>
          </a:p>
        </p:txBody>
      </p:sp>
      <p:sp>
        <p:nvSpPr>
          <p:cNvPr id="36" name="TextBox 35"/>
          <p:cNvSpPr txBox="1"/>
          <p:nvPr/>
        </p:nvSpPr>
        <p:spPr>
          <a:xfrm>
            <a:off x="3785615" y="5522976"/>
            <a:ext cx="274320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CDD and STR reporting</a:t>
            </a:r>
            <a:endParaRPr sz="1800" b="0" i="0">
              <a:solidFill>
                <a:srgbClr val="0D1B2A"/>
              </a:solidFill>
              <a:latin typeface="Calibri"/>
            </a:endParaRPr>
          </a:p>
        </p:txBody>
      </p:sp>
      <p:sp>
        <p:nvSpPr>
          <p:cNvPr id="37" name="TextBox 36"/>
          <p:cNvSpPr txBox="1"/>
          <p:nvPr/>
        </p:nvSpPr>
        <p:spPr>
          <a:xfrm>
            <a:off x="6803136" y="5522976"/>
            <a:ext cx="4754880" cy="278892"/>
          </a:xfrm>
          <a:prstGeom prst="rect">
            <a:avLst/>
          </a:prstGeom>
          <a:noFill/>
        </p:spPr>
        <p:txBody>
          <a:bodyPr wrap="square" lIns="0" tIns="0" rIns="0" bIns="0">
            <a:spAutoFit/>
          </a:bodyPr>
          <a:lstStyle/>
          <a:p>
            <a:pPr algn="l">
              <a:lnSpc>
                <a:spcPct val="100000"/>
              </a:lnSpc>
              <a:spcAft>
                <a:spcPts val="0"/>
              </a:spcAft>
            </a:pPr>
            <a:r>
              <a:rPr sz="1800" b="0" i="0">
                <a:solidFill>
                  <a:srgbClr val="0D1B2A"/>
                </a:solidFill>
                <a:latin typeface="Calibri"/>
              </a:rPr>
              <a:t>Six detectors; FIU-IND report structure</a:t>
            </a:r>
            <a:endParaRPr sz="1800" b="0" i="0">
              <a:solidFill>
                <a:srgbClr val="0D1B2A"/>
              </a:solidFill>
              <a:latin typeface="Calibri"/>
            </a:endParaRPr>
          </a:p>
        </p:txBody>
      </p:sp>
      <p:sp>
        <p:nvSpPr>
          <p:cNvPr id="38" name="TextBox 37"/>
          <p:cNvSpPr txBox="1"/>
          <p:nvPr/>
        </p:nvSpPr>
        <p:spPr>
          <a:xfrm>
            <a:off x="621792" y="5998464"/>
            <a:ext cx="10948111" cy="278892"/>
          </a:xfrm>
          <a:prstGeom prst="rect">
            <a:avLst/>
          </a:prstGeom>
          <a:noFill/>
        </p:spPr>
        <p:txBody>
          <a:bodyPr wrap="square" lIns="0" tIns="0" rIns="0" bIns="0">
            <a:spAutoFit/>
          </a:bodyPr>
          <a:lstStyle/>
          <a:p>
            <a:pPr algn="l">
              <a:lnSpc>
                <a:spcPct val="100000"/>
              </a:lnSpc>
              <a:spcAft>
                <a:spcPts val="0"/>
              </a:spcAft>
            </a:pPr>
            <a:r>
              <a:rPr sz="1800" b="0" i="1">
                <a:solidFill>
                  <a:srgbClr val="59697D"/>
                </a:solidFill>
                <a:latin typeface="Calibri"/>
              </a:rPr>
              <a:t>Prototype pending formal compliance sign-off — the STR schema and these mappings need officer review.</a:t>
            </a:r>
            <a:endParaRPr sz="1800" b="0" i="1">
              <a:solidFill>
                <a:srgbClr val="59697D"/>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20624"/>
            <a:ext cx="10948111" cy="278892"/>
          </a:xfrm>
          <a:prstGeom prst="rect">
            <a:avLst/>
          </a:prstGeom>
          <a:noFill/>
        </p:spPr>
        <p:txBody>
          <a:bodyPr wrap="square" lIns="0" tIns="0" rIns="0" bIns="0">
            <a:spAutoFit/>
          </a:bodyPr>
          <a:lstStyle/>
          <a:p>
            <a:pPr algn="l">
              <a:lnSpc>
                <a:spcPct val="100000"/>
              </a:lnSpc>
              <a:spcAft>
                <a:spcPts val="0"/>
              </a:spcAft>
            </a:pPr>
            <a:r>
              <a:rPr sz="1800" b="1" i="0">
                <a:solidFill>
                  <a:srgbClr val="C8102E"/>
                </a:solidFill>
                <a:latin typeface="Calibri"/>
              </a:rPr>
              <a:t>APPENDIX A4 — NOT PRESENTED</a:t>
            </a:r>
            <a:endParaRPr sz="1800" b="1" i="0">
              <a:solidFill>
                <a:srgbClr val="C8102E"/>
              </a:solidFill>
              <a:latin typeface="Calibri"/>
            </a:endParaRPr>
          </a:p>
        </p:txBody>
      </p:sp>
      <p:sp>
        <p:nvSpPr>
          <p:cNvPr id="4" name="TextBox 3"/>
          <p:cNvSpPr txBox="1"/>
          <p:nvPr/>
        </p:nvSpPr>
        <p:spPr>
          <a:xfrm>
            <a:off x="621792" y="768096"/>
            <a:ext cx="10948111" cy="495807"/>
          </a:xfrm>
          <a:prstGeom prst="rect">
            <a:avLst/>
          </a:prstGeom>
          <a:noFill/>
        </p:spPr>
        <p:txBody>
          <a:bodyPr wrap="square" lIns="0" tIns="0" rIns="0" bIns="0">
            <a:spAutoFit/>
          </a:bodyPr>
          <a:lstStyle/>
          <a:p>
            <a:pPr algn="l">
              <a:lnSpc>
                <a:spcPct val="100000"/>
              </a:lnSpc>
              <a:spcAft>
                <a:spcPts val="0"/>
              </a:spcAft>
            </a:pPr>
            <a:r>
              <a:rPr sz="3200" b="1" i="0">
                <a:solidFill>
                  <a:srgbClr val="12365E"/>
                </a:solidFill>
                <a:latin typeface="Calibri"/>
              </a:rPr>
              <a:t>Economics, market — and what isn't finished.</a:t>
            </a:r>
            <a:endParaRPr sz="3200" b="1" i="0">
              <a:solidFill>
                <a:srgbClr val="12365E"/>
              </a:solidFill>
              <a:latin typeface="Calibri"/>
            </a:endParaRPr>
          </a:p>
        </p:txBody>
      </p:sp>
      <p:sp>
        <p:nvSpPr>
          <p:cNvPr id="5" name="Rectangle 4"/>
          <p:cNvSpPr/>
          <p:nvPr/>
        </p:nvSpPr>
        <p:spPr>
          <a:xfrm>
            <a:off x="621792" y="1426464"/>
            <a:ext cx="10948111" cy="20116"/>
          </a:xfrm>
          <a:prstGeom prst="rect">
            <a:avLst/>
          </a:prstGeom>
          <a:solidFill>
            <a:srgbClr val="D5DD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1792" y="1700784"/>
            <a:ext cx="5336895" cy="210312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01952"/>
            <a:ext cx="4788255" cy="309879"/>
          </a:xfrm>
          <a:prstGeom prst="rect">
            <a:avLst/>
          </a:prstGeom>
          <a:noFill/>
        </p:spPr>
        <p:txBody>
          <a:bodyPr wrap="square" lIns="0" tIns="0" rIns="0" bIns="0">
            <a:spAutoFit/>
          </a:bodyPr>
          <a:lstStyle/>
          <a:p>
            <a:pPr algn="l">
              <a:lnSpc>
                <a:spcPct val="100000"/>
              </a:lnSpc>
              <a:spcAft>
                <a:spcPts val="0"/>
              </a:spcAft>
            </a:pPr>
            <a:r>
              <a:rPr sz="2000" b="1" i="0">
                <a:solidFill>
                  <a:srgbClr val="C8102E"/>
                </a:solidFill>
                <a:latin typeface="Calibri"/>
              </a:rPr>
              <a:t>UNIT ECONOMICS</a:t>
            </a:r>
            <a:endParaRPr sz="2000" b="1" i="0">
              <a:solidFill>
                <a:srgbClr val="C8102E"/>
              </a:solidFill>
              <a:latin typeface="Calibri"/>
            </a:endParaRPr>
          </a:p>
        </p:txBody>
      </p:sp>
      <p:sp>
        <p:nvSpPr>
          <p:cNvPr id="8" name="TextBox 7"/>
          <p:cNvSpPr txBox="1"/>
          <p:nvPr/>
        </p:nvSpPr>
        <p:spPr>
          <a:xfrm>
            <a:off x="896112" y="2304288"/>
            <a:ext cx="4788255"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Variable cost is almost entirely AI inference</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~$0.07–$0.10 per recommendation call, measured</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₹1.2 Cr contract, ~2,000 cases/mo ≈ 96% margin</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Self-hosting the model zeroes inference cost</a:t>
            </a:r>
            <a:endParaRPr sz="1800" b="0" i="0">
              <a:solidFill>
                <a:srgbClr val="0D1B2A"/>
              </a:solidFill>
              <a:latin typeface="Calibri"/>
            </a:endParaRPr>
          </a:p>
        </p:txBody>
      </p:sp>
      <p:sp>
        <p:nvSpPr>
          <p:cNvPr id="9" name="Rounded Rectangle 8"/>
          <p:cNvSpPr/>
          <p:nvPr/>
        </p:nvSpPr>
        <p:spPr>
          <a:xfrm>
            <a:off x="6233007" y="1700784"/>
            <a:ext cx="5336895" cy="2103120"/>
          </a:xfrm>
          <a:prstGeom prst="roundRect">
            <a:avLst>
              <a:gd name="adj" fmla="val 4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07327" y="1901952"/>
            <a:ext cx="4788255" cy="309879"/>
          </a:xfrm>
          <a:prstGeom prst="rect">
            <a:avLst/>
          </a:prstGeom>
          <a:noFill/>
        </p:spPr>
        <p:txBody>
          <a:bodyPr wrap="square" lIns="0" tIns="0" rIns="0" bIns="0">
            <a:spAutoFit/>
          </a:bodyPr>
          <a:lstStyle/>
          <a:p>
            <a:pPr algn="l">
              <a:lnSpc>
                <a:spcPct val="100000"/>
              </a:lnSpc>
              <a:spcAft>
                <a:spcPts val="0"/>
              </a:spcAft>
            </a:pPr>
            <a:r>
              <a:rPr sz="2000" b="1" i="0">
                <a:solidFill>
                  <a:srgbClr val="C8102E"/>
                </a:solidFill>
                <a:latin typeface="Calibri"/>
              </a:rPr>
              <a:t>MARKET BUILD-UP</a:t>
            </a:r>
            <a:endParaRPr sz="2000" b="1" i="0">
              <a:solidFill>
                <a:srgbClr val="C8102E"/>
              </a:solidFill>
              <a:latin typeface="Calibri"/>
            </a:endParaRPr>
          </a:p>
        </p:txBody>
      </p:sp>
      <p:sp>
        <p:nvSpPr>
          <p:cNvPr id="11" name="TextBox 10"/>
          <p:cNvSpPr txBox="1"/>
          <p:nvPr/>
        </p:nvSpPr>
        <p:spPr>
          <a:xfrm>
            <a:off x="6507327" y="2304288"/>
            <a:ext cx="4788255" cy="1288755"/>
          </a:xfrm>
          <a:prstGeom prst="rect">
            <a:avLst/>
          </a:prstGeom>
          <a:noFill/>
        </p:spPr>
        <p:txBody>
          <a:bodyPr wrap="square" lIns="0" tIns="0" rIns="0" bIns="0">
            <a:spAutoFit/>
          </a:bodyPr>
          <a:lstStyle/>
          <a:p>
            <a:pPr algn="l">
              <a:lnSpc>
                <a:spcPct val="102000"/>
              </a:lnSpc>
              <a:spcAft>
                <a:spcPts val="395"/>
              </a:spcAft>
            </a:pPr>
            <a:r>
              <a:rPr sz="1800" b="0" i="0">
                <a:solidFill>
                  <a:srgbClr val="0D1B2A"/>
                </a:solidFill>
                <a:latin typeface="Calibri"/>
              </a:rPr>
              <a:t>•  Bottom-up: 309 Indian institutions, 3 tiers</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₹114.5 Cr serviceable annual revenue in India</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India RegTech ~$606 M in 2025, ~16% a year</a:t>
            </a:r>
            <a:endParaRPr sz="1800" b="0" i="0">
              <a:solidFill>
                <a:srgbClr val="0D1B2A"/>
              </a:solidFill>
              <a:latin typeface="Calibri"/>
            </a:endParaRPr>
          </a:p>
          <a:p>
            <a:pPr algn="l">
              <a:lnSpc>
                <a:spcPct val="102000"/>
              </a:lnSpc>
              <a:spcAft>
                <a:spcPts val="395"/>
              </a:spcAft>
            </a:pPr>
            <a:r>
              <a:rPr sz="1800" b="0" i="0">
                <a:solidFill>
                  <a:srgbClr val="0D1B2A"/>
                </a:solidFill>
                <a:latin typeface="Calibri"/>
              </a:rPr>
              <a:t>•  Precedent: Clari5 → Perfios, Feb 2025</a:t>
            </a:r>
            <a:endParaRPr sz="1800" b="0" i="0">
              <a:solidFill>
                <a:srgbClr val="0D1B2A"/>
              </a:solidFill>
              <a:latin typeface="Calibri"/>
            </a:endParaRPr>
          </a:p>
        </p:txBody>
      </p:sp>
      <p:sp>
        <p:nvSpPr>
          <p:cNvPr id="12" name="Rounded Rectangle 11"/>
          <p:cNvSpPr/>
          <p:nvPr/>
        </p:nvSpPr>
        <p:spPr>
          <a:xfrm>
            <a:off x="621792" y="4023360"/>
            <a:ext cx="10948111" cy="2231136"/>
          </a:xfrm>
          <a:prstGeom prst="roundRect">
            <a:avLst>
              <a:gd name="adj" fmla="val 4000"/>
            </a:avLst>
          </a:prstGeom>
          <a:solidFill>
            <a:srgbClr val="EB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206240"/>
            <a:ext cx="10399471" cy="294386"/>
          </a:xfrm>
          <a:prstGeom prst="rect">
            <a:avLst/>
          </a:prstGeom>
          <a:noFill/>
        </p:spPr>
        <p:txBody>
          <a:bodyPr wrap="square" lIns="0" tIns="0" rIns="0" bIns="0">
            <a:spAutoFit/>
          </a:bodyPr>
          <a:lstStyle/>
          <a:p>
            <a:pPr algn="l">
              <a:lnSpc>
                <a:spcPct val="100000"/>
              </a:lnSpc>
              <a:spcAft>
                <a:spcPts val="0"/>
              </a:spcAft>
            </a:pPr>
            <a:r>
              <a:rPr sz="1900" b="1" i="0">
                <a:solidFill>
                  <a:srgbClr val="12365E"/>
                </a:solidFill>
                <a:latin typeface="Calibri"/>
              </a:rPr>
              <a:t>WHAT IS GENUINELY NOT FINISHED — say this before you're asked</a:t>
            </a:r>
            <a:endParaRPr sz="1900" b="1" i="0">
              <a:solidFill>
                <a:srgbClr val="12365E"/>
              </a:solidFill>
              <a:latin typeface="Calibri"/>
            </a:endParaRPr>
          </a:p>
        </p:txBody>
      </p:sp>
      <p:sp>
        <p:nvSpPr>
          <p:cNvPr id="14" name="TextBox 13"/>
          <p:cNvSpPr txBox="1"/>
          <p:nvPr/>
        </p:nvSpPr>
        <p:spPr>
          <a:xfrm>
            <a:off x="896112" y="4608576"/>
            <a:ext cx="10399471" cy="1238463"/>
          </a:xfrm>
          <a:prstGeom prst="rect">
            <a:avLst/>
          </a:prstGeom>
          <a:noFill/>
        </p:spPr>
        <p:txBody>
          <a:bodyPr wrap="square" lIns="0" tIns="0" rIns="0" bIns="0">
            <a:spAutoFit/>
          </a:bodyPr>
          <a:lstStyle/>
          <a:p>
            <a:pPr marL="274320" indent="-274320" algn="l">
              <a:lnSpc>
                <a:spcPct val="102000"/>
              </a:lnSpc>
              <a:spcAft>
                <a:spcPts val="395"/>
              </a:spcAft>
            </a:pPr>
            <a:r>
              <a:rPr sz="1800" b="0" i="0">
                <a:solidFill>
                  <a:srgbClr val="0D1B2A"/>
                </a:solidFill>
                <a:latin typeface="Calibri"/>
              </a:rPr>
              <a:t>•  The retention-purge job and legal-hold flagging are designed and documented, but not built — nothing auto-deletes yet</a:t>
            </a:r>
            <a:endParaRPr sz="1800" b="0" i="0">
              <a:solidFill>
                <a:srgbClr val="0D1B2A"/>
              </a:solidFill>
              <a:latin typeface="Calibri"/>
            </a:endParaRPr>
          </a:p>
          <a:p>
            <a:pPr marL="274320" indent="-274320" algn="l">
              <a:lnSpc>
                <a:spcPct val="102000"/>
              </a:lnSpc>
              <a:spcAft>
                <a:spcPts val="395"/>
              </a:spcAft>
            </a:pPr>
            <a:r>
              <a:rPr sz="1800" b="0" i="0">
                <a:solidFill>
                  <a:srgbClr val="0D1B2A"/>
                </a:solidFill>
                <a:latin typeface="Calibri"/>
              </a:rPr>
              <a:t>•  PostgreSQL and Neo4j exist as adapter boundaries in code; the implementations are the funded next step</a:t>
            </a:r>
            <a:endParaRPr sz="1800" b="0" i="0">
              <a:solidFill>
                <a:srgbClr val="0D1B2A"/>
              </a:solidFill>
              <a:latin typeface="Calibri"/>
            </a:endParaRPr>
          </a:p>
          <a:p>
            <a:pPr marL="274320" indent="-274320" algn="l">
              <a:lnSpc>
                <a:spcPct val="102000"/>
              </a:lnSpc>
              <a:spcAft>
                <a:spcPts val="395"/>
              </a:spcAft>
            </a:pPr>
            <a:r>
              <a:rPr sz="1800" b="0" i="0">
                <a:solidFill>
                  <a:srgbClr val="0D1B2A"/>
                </a:solidFill>
                <a:latin typeface="Calibri"/>
              </a:rPr>
              <a:t>•  External security review and compliance sign-off on the STR format are required before real accounts</a:t>
            </a:r>
            <a:endParaRPr sz="1800" b="0" i="0">
              <a:solidFill>
                <a:srgbClr val="0D1B2A"/>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9484</Words>
  <Application>WPS Presentation</Application>
  <PresentationFormat>On-screen Show (4:3)</PresentationFormat>
  <Paragraphs>512</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vaideeka.agrawal</cp:lastModifiedBy>
  <cp:revision>2</cp:revision>
  <dcterms:created xsi:type="dcterms:W3CDTF">2026-09-05T13:55:20Z</dcterms:created>
  <dcterms:modified xsi:type="dcterms:W3CDTF">2026-09-05T13:55:20Z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1033-5.7.3.8096</vt:lpwstr>
  </property>
</Properties>
</file>