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media/image1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7"/>
  </p:notesMasterIdLst>
  <p:sldIdLst>
    <p:sldId id="256" r:id="rId3"/>
    <p:sldId id="258" r:id="rId4"/>
    <p:sldId id="259" r:id="rId5"/>
    <p:sldId id="260" r:id="rId6"/>
    <p:sldId id="261" r:id="rId8"/>
    <p:sldId id="262" r:id="rId9"/>
    <p:sldId id="264" r:id="rId10"/>
    <p:sldId id="263" r:id="rId11"/>
    <p:sldId id="265" r:id="rId12"/>
  </p:sldIdLst>
  <p:sldSz cx="18288000" cy="10287000"/>
  <p:notesSz cx="6858000" cy="9144000"/>
  <p:embeddedFontLst>
    <p:embeddedFont>
      <p:font typeface="Montserrat Bold"/>
      <p:regular r:id="rId16"/>
    </p:embeddedFont>
    <p:embeddedFont>
      <p:font typeface="League Spartan" panose="00000800000000000000"/>
      <p:regular r:id="rId17"/>
    </p:embeddedFont>
    <p:embeddedFont>
      <p:font typeface="TT Interphases Mono" panose="02000506030000020004"/>
      <p:regular r:id="rId18"/>
    </p:embeddedFont>
    <p:embeddedFont>
      <p:font typeface="Montserrat" panose="000005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 autoAdjust="0"/>
    <p:restoredTop sz="94648" autoAdjust="0"/>
  </p:normalViewPr>
  <p:slideViewPr>
    <p:cSldViewPr>
      <p:cViewPr varScale="1">
        <p:scale>
          <a:sx n="78" d="100"/>
          <a:sy n="78" d="100"/>
        </p:scale>
        <p:origin x="264" y="168"/>
      </p:cViewPr>
      <p:guideLst>
        <p:guide orient="horz" pos="2160"/>
        <p:guide pos="2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font" Target="fonts/font4.fntdata"/><Relationship Id="rId18" Type="http://schemas.openxmlformats.org/officeDocument/2006/relationships/font" Target="fonts/font3.fntdata"/><Relationship Id="rId17" Type="http://schemas.openxmlformats.org/officeDocument/2006/relationships/font" Target="fonts/font2.fntdata"/><Relationship Id="rId16" Type="http://schemas.openxmlformats.org/officeDocument/2006/relationships/font" Target="fonts/font1.fntdata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.sv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.svg"/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.svg"/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.svg"/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9.png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.svg"/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.svg"/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.svg"/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1.png"/><Relationship Id="rId4" Type="http://schemas.openxmlformats.org/officeDocument/2006/relationships/image" Target="../media/image4.png"/><Relationship Id="rId3" Type="http://schemas.openxmlformats.org/officeDocument/2006/relationships/image" Target="../media/image1.svg"/><Relationship Id="rId2" Type="http://schemas.openxmlformats.org/officeDocument/2006/relationships/image" Target="../media/image3.png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.svg"/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378405" y="3323336"/>
            <a:ext cx="9231747" cy="4935326"/>
          </a:xfrm>
          <a:custGeom>
            <a:avLst/>
            <a:gdLst/>
            <a:ahLst/>
            <a:cxnLst/>
            <a:rect l="l" t="t" r="r" b="b"/>
            <a:pathLst>
              <a:path w="9231747" h="4935326">
                <a:moveTo>
                  <a:pt x="0" y="0"/>
                </a:moveTo>
                <a:lnTo>
                  <a:pt x="9231746" y="0"/>
                </a:lnTo>
                <a:lnTo>
                  <a:pt x="9231746" y="4935326"/>
                </a:lnTo>
                <a:lnTo>
                  <a:pt x="0" y="4935326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42727" b="-44327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130164" y="1392478"/>
            <a:ext cx="8027673" cy="1630802"/>
          </a:xfrm>
          <a:custGeom>
            <a:avLst/>
            <a:gdLst/>
            <a:ahLst/>
            <a:cxnLst/>
            <a:rect l="l" t="t" r="r" b="b"/>
            <a:pathLst>
              <a:path w="8027673" h="1630802">
                <a:moveTo>
                  <a:pt x="0" y="0"/>
                </a:moveTo>
                <a:lnTo>
                  <a:pt x="8027672" y="0"/>
                </a:lnTo>
                <a:lnTo>
                  <a:pt x="8027672" y="1630802"/>
                </a:lnTo>
                <a:lnTo>
                  <a:pt x="0" y="16308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685" b="-9685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439333" y="8524710"/>
            <a:ext cx="3409334" cy="1114590"/>
          </a:xfrm>
          <a:custGeom>
            <a:avLst/>
            <a:gdLst/>
            <a:ahLst/>
            <a:cxnLst/>
            <a:rect l="l" t="t" r="r" b="b"/>
            <a:pathLst>
              <a:path w="3409334" h="1114590">
                <a:moveTo>
                  <a:pt x="0" y="0"/>
                </a:moveTo>
                <a:lnTo>
                  <a:pt x="3409334" y="0"/>
                </a:lnTo>
                <a:lnTo>
                  <a:pt x="3409334" y="1114589"/>
                </a:lnTo>
                <a:lnTo>
                  <a:pt x="0" y="11145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401479" y="281194"/>
            <a:ext cx="2445886" cy="1222943"/>
          </a:xfrm>
          <a:custGeom>
            <a:avLst/>
            <a:gdLst/>
            <a:ahLst/>
            <a:cxnLst/>
            <a:rect l="l" t="t" r="r" b="b"/>
            <a:pathLst>
              <a:path w="2445886" h="1222943">
                <a:moveTo>
                  <a:pt x="0" y="0"/>
                </a:moveTo>
                <a:lnTo>
                  <a:pt x="2445886" y="0"/>
                </a:lnTo>
                <a:lnTo>
                  <a:pt x="2445886" y="1222943"/>
                </a:lnTo>
                <a:lnTo>
                  <a:pt x="0" y="12229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739206" y="471221"/>
            <a:ext cx="1040189" cy="1032916"/>
          </a:xfrm>
          <a:custGeom>
            <a:avLst/>
            <a:gdLst/>
            <a:ahLst/>
            <a:cxnLst/>
            <a:rect l="l" t="t" r="r" b="b"/>
            <a:pathLst>
              <a:path w="1040189" h="1032916">
                <a:moveTo>
                  <a:pt x="0" y="0"/>
                </a:moveTo>
                <a:lnTo>
                  <a:pt x="1040188" y="0"/>
                </a:lnTo>
                <a:lnTo>
                  <a:pt x="1040188" y="1032916"/>
                </a:lnTo>
                <a:lnTo>
                  <a:pt x="0" y="103291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3633" t="-14434" r="-13983" b="-14081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304392" y="990600"/>
            <a:ext cx="12023378" cy="294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55"/>
              </a:lnSpc>
            </a:pPr>
            <a:r>
              <a:rPr lang="en-US" sz="1755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(An Initiative of Government of India, Ministry of Finance , Department of Financial Services)</a:t>
            </a:r>
            <a:endParaRPr lang="en-US" sz="1755" b="1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2058924" y="339398"/>
            <a:ext cx="14514314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4500" dirty="0">
                <a:solidFill>
                  <a:srgbClr val="E92A2D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PSBs Hackathon Series 2026</a:t>
            </a:r>
            <a:endParaRPr lang="en-US" sz="4500" dirty="0">
              <a:solidFill>
                <a:srgbClr val="E92A2D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7712906" y="2894674"/>
            <a:ext cx="2862189" cy="428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0"/>
              </a:lnSpc>
            </a:pPr>
            <a:r>
              <a:rPr lang="en-US" sz="2435">
                <a:solidFill>
                  <a:srgbClr val="000000"/>
                </a:solidFill>
                <a:latin typeface="TT Interphases Mono" panose="02000506030000020004"/>
                <a:ea typeface="TT Interphases Mono" panose="02000506030000020004"/>
                <a:cs typeface="TT Interphases Mono" panose="02000506030000020004"/>
                <a:sym typeface="TT Interphases Mono" panose="02000506030000020004"/>
              </a:rPr>
              <a:t>PRESENTS</a:t>
            </a:r>
            <a:endParaRPr lang="en-US" sz="2435">
              <a:solidFill>
                <a:srgbClr val="000000"/>
              </a:solidFill>
              <a:latin typeface="TT Interphases Mono" panose="02000506030000020004"/>
              <a:ea typeface="TT Interphases Mono" panose="02000506030000020004"/>
              <a:cs typeface="TT Interphases Mono" panose="02000506030000020004"/>
              <a:sym typeface="TT Interphases Mono" panose="020005060300000200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0" y="0"/>
            <a:ext cx="18288000" cy="1697181"/>
            <a:chOff x="0" y="0"/>
            <a:chExt cx="4816593" cy="44699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446994"/>
            </a:xfrm>
            <a:custGeom>
              <a:avLst/>
              <a:gdLst/>
              <a:ahLst/>
              <a:cxnLst/>
              <a:rect l="l" t="t" r="r" b="b"/>
              <a:pathLst>
                <a:path w="4816592" h="446994">
                  <a:moveTo>
                    <a:pt x="0" y="0"/>
                  </a:moveTo>
                  <a:lnTo>
                    <a:pt x="4816592" y="0"/>
                  </a:lnTo>
                  <a:lnTo>
                    <a:pt x="4816592" y="446994"/>
                  </a:lnTo>
                  <a:lnTo>
                    <a:pt x="0" y="44699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4850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6" name="Freeform 6"/>
          <p:cNvSpPr/>
          <p:nvPr/>
        </p:nvSpPr>
        <p:spPr>
          <a:xfrm>
            <a:off x="6662574" y="122606"/>
            <a:ext cx="3497653" cy="1540119"/>
          </a:xfrm>
          <a:custGeom>
            <a:avLst/>
            <a:gdLst/>
            <a:ahLst/>
            <a:cxnLst/>
            <a:rect l="l" t="t" r="r" b="b"/>
            <a:pathLst>
              <a:path w="3497653" h="1540119">
                <a:moveTo>
                  <a:pt x="0" y="0"/>
                </a:moveTo>
                <a:lnTo>
                  <a:pt x="3497653" y="0"/>
                </a:lnTo>
                <a:lnTo>
                  <a:pt x="3497653" y="1540119"/>
                </a:lnTo>
                <a:lnTo>
                  <a:pt x="0" y="1540119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l="-26230" t="-89762" r="-26367" b="-156792"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0969852" y="588904"/>
            <a:ext cx="5022437" cy="749179"/>
            <a:chOff x="0" y="0"/>
            <a:chExt cx="6696583" cy="998906"/>
          </a:xfrm>
        </p:grpSpPr>
        <p:sp>
          <p:nvSpPr>
            <p:cNvPr id="8" name="Freeform 8" descr="A red blue and white logo  Description automatically generated"/>
            <p:cNvSpPr/>
            <p:nvPr/>
          </p:nvSpPr>
          <p:spPr>
            <a:xfrm>
              <a:off x="0" y="0"/>
              <a:ext cx="6696583" cy="998855"/>
            </a:xfrm>
            <a:custGeom>
              <a:avLst/>
              <a:gdLst/>
              <a:ahLst/>
              <a:cxnLst/>
              <a:rect l="l" t="t" r="r" b="b"/>
              <a:pathLst>
                <a:path w="6696583" h="998855">
                  <a:moveTo>
                    <a:pt x="0" y="0"/>
                  </a:moveTo>
                  <a:lnTo>
                    <a:pt x="6696583" y="0"/>
                  </a:lnTo>
                  <a:lnTo>
                    <a:pt x="6696583" y="998855"/>
                  </a:lnTo>
                  <a:lnTo>
                    <a:pt x="0" y="9988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5"/>
              </a:stretch>
            </a:blipFill>
          </p:spPr>
        </p:sp>
      </p:grpSp>
      <p:sp>
        <p:nvSpPr>
          <p:cNvPr id="9" name="Freeform 9"/>
          <p:cNvSpPr/>
          <p:nvPr/>
        </p:nvSpPr>
        <p:spPr>
          <a:xfrm>
            <a:off x="3163313" y="523697"/>
            <a:ext cx="2690517" cy="879592"/>
          </a:xfrm>
          <a:custGeom>
            <a:avLst/>
            <a:gdLst/>
            <a:ahLst/>
            <a:cxnLst/>
            <a:rect l="l" t="t" r="r" b="b"/>
            <a:pathLst>
              <a:path w="2690517" h="879592">
                <a:moveTo>
                  <a:pt x="0" y="0"/>
                </a:moveTo>
                <a:lnTo>
                  <a:pt x="2690518" y="0"/>
                </a:lnTo>
                <a:lnTo>
                  <a:pt x="2690518" y="879593"/>
                </a:lnTo>
                <a:lnTo>
                  <a:pt x="0" y="8795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401479" y="281194"/>
            <a:ext cx="2445886" cy="1222943"/>
          </a:xfrm>
          <a:custGeom>
            <a:avLst/>
            <a:gdLst/>
            <a:ahLst/>
            <a:cxnLst/>
            <a:rect l="l" t="t" r="r" b="b"/>
            <a:pathLst>
              <a:path w="2445886" h="1222943">
                <a:moveTo>
                  <a:pt x="0" y="0"/>
                </a:moveTo>
                <a:lnTo>
                  <a:pt x="2445886" y="0"/>
                </a:lnTo>
                <a:lnTo>
                  <a:pt x="2445886" y="1222943"/>
                </a:lnTo>
                <a:lnTo>
                  <a:pt x="0" y="12229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326561" y="1974068"/>
            <a:ext cx="15634878" cy="81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u="sng">
                <a:solidFill>
                  <a:srgbClr val="4472C4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PROBLEM STATEMENT &amp; TEAM DETAILS</a:t>
            </a:r>
            <a:endParaRPr lang="en-US" sz="5400" u="sng">
              <a:solidFill>
                <a:srgbClr val="4472C4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12" name="Freeform 12"/>
          <p:cNvSpPr/>
          <p:nvPr/>
        </p:nvSpPr>
        <p:spPr>
          <a:xfrm>
            <a:off x="16739206" y="471221"/>
            <a:ext cx="1040189" cy="1032916"/>
          </a:xfrm>
          <a:custGeom>
            <a:avLst/>
            <a:gdLst/>
            <a:ahLst/>
            <a:cxnLst/>
            <a:rect l="l" t="t" r="r" b="b"/>
            <a:pathLst>
              <a:path w="1040189" h="1032916">
                <a:moveTo>
                  <a:pt x="0" y="0"/>
                </a:moveTo>
                <a:lnTo>
                  <a:pt x="1040188" y="0"/>
                </a:lnTo>
                <a:lnTo>
                  <a:pt x="1040188" y="1032916"/>
                </a:lnTo>
                <a:lnTo>
                  <a:pt x="0" y="103291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3633" t="-14434" r="-13983" b="-14081"/>
            </a:stretch>
          </a:blipFill>
        </p:spPr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26184" y="3238500"/>
          <a:ext cx="17035628" cy="6115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8016"/>
                <a:gridCol w="6019798"/>
                <a:gridCol w="2667002"/>
                <a:gridCol w="5850812"/>
              </a:tblGrid>
              <a:tr h="1055464">
                <a:tc gridSpan="2"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TEAM NAME</a:t>
                      </a:r>
                      <a:endParaRPr lang="en-US" sz="2400" dirty="0"/>
                    </a:p>
                    <a:p>
                      <a:pPr algn="ctr"/>
                      <a:r>
                        <a:rPr lang="en-US" sz="2400" dirty="0"/>
                        <a:t>(AS SUBMITTED ON PORTAL)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2026"/>
                    </a:solidFill>
                  </a:tcPr>
                </a:tc>
                <a:tc hMerge="1"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syntax_error</a:t>
                      </a:r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001936"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400" b="1" dirty="0"/>
                        <a:t>PROBLEM STATEMENT TITLE</a:t>
                      </a:r>
                      <a:endParaRPr lang="en-US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PS3- Tracking of Funds within Bank for Fraud Detection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11624">
                <a:tc>
                  <a:txBody>
                    <a:bodyPr/>
                    <a:lstStyle/>
                    <a:p>
                      <a:pPr algn="ctr"/>
                      <a:endParaRPr 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20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bg1"/>
                          </a:solidFill>
                        </a:rPr>
                        <a:t>NAME</a:t>
                      </a:r>
                      <a:endParaRPr 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20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bg1"/>
                          </a:solidFill>
                        </a:rPr>
                        <a:t>GENDER</a:t>
                      </a:r>
                      <a:endParaRPr 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20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bg1"/>
                          </a:solidFill>
                        </a:rPr>
                        <a:t>AREA OF EXPERTISE</a:t>
                      </a:r>
                      <a:endParaRPr 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2026"/>
                    </a:solidFill>
                  </a:tcPr>
                </a:tc>
              </a:tr>
              <a:tr h="81153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Member 1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Vaideeka Agrawal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Female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Full Stack, Machine Learning, AI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1162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Member 2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Vedansh Kapoor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Male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Machine Learning, Computer Vision, Gen AI, Data Science</a:t>
                      </a:r>
                      <a:endParaRPr lang="en-US" sz="2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1162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Member 3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Adarsh Panjwani</a:t>
                      </a:r>
                      <a:endParaRPr 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Male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Machine Learning, Image Processing, Data Science, AI</a:t>
                      </a:r>
                      <a:endParaRPr lang="en-US" sz="2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1162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Member 4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Shourya Pawan Kalbande</a:t>
                      </a:r>
                      <a:endParaRPr lang="en-US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Male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Machine Learning, Data Science, AI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697181"/>
            <a:chOff x="0" y="0"/>
            <a:chExt cx="4816593" cy="4469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446994"/>
            </a:xfrm>
            <a:custGeom>
              <a:avLst/>
              <a:gdLst/>
              <a:ahLst/>
              <a:cxnLst/>
              <a:rect l="l" t="t" r="r" b="b"/>
              <a:pathLst>
                <a:path w="4816592" h="446994">
                  <a:moveTo>
                    <a:pt x="0" y="0"/>
                  </a:moveTo>
                  <a:lnTo>
                    <a:pt x="4816592" y="0"/>
                  </a:lnTo>
                  <a:lnTo>
                    <a:pt x="4816592" y="446994"/>
                  </a:lnTo>
                  <a:lnTo>
                    <a:pt x="0" y="44699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4850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5" name="Freeform 5"/>
          <p:cNvSpPr/>
          <p:nvPr/>
        </p:nvSpPr>
        <p:spPr>
          <a:xfrm>
            <a:off x="6662574" y="122606"/>
            <a:ext cx="3497653" cy="1540119"/>
          </a:xfrm>
          <a:custGeom>
            <a:avLst/>
            <a:gdLst/>
            <a:ahLst/>
            <a:cxnLst/>
            <a:rect l="l" t="t" r="r" b="b"/>
            <a:pathLst>
              <a:path w="3497653" h="1540119">
                <a:moveTo>
                  <a:pt x="0" y="0"/>
                </a:moveTo>
                <a:lnTo>
                  <a:pt x="3497653" y="0"/>
                </a:lnTo>
                <a:lnTo>
                  <a:pt x="3497653" y="1540119"/>
                </a:lnTo>
                <a:lnTo>
                  <a:pt x="0" y="1540119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l="-26230" t="-89762" r="-26367" b="-156792"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0969852" y="588904"/>
            <a:ext cx="5022437" cy="749179"/>
            <a:chOff x="0" y="0"/>
            <a:chExt cx="6696583" cy="998906"/>
          </a:xfrm>
        </p:grpSpPr>
        <p:sp>
          <p:nvSpPr>
            <p:cNvPr id="7" name="Freeform 7" descr="A red blue and white logo  Description automatically generated"/>
            <p:cNvSpPr/>
            <p:nvPr/>
          </p:nvSpPr>
          <p:spPr>
            <a:xfrm>
              <a:off x="0" y="0"/>
              <a:ext cx="6696583" cy="998855"/>
            </a:xfrm>
            <a:custGeom>
              <a:avLst/>
              <a:gdLst/>
              <a:ahLst/>
              <a:cxnLst/>
              <a:rect l="l" t="t" r="r" b="b"/>
              <a:pathLst>
                <a:path w="6696583" h="998855">
                  <a:moveTo>
                    <a:pt x="0" y="0"/>
                  </a:moveTo>
                  <a:lnTo>
                    <a:pt x="6696583" y="0"/>
                  </a:lnTo>
                  <a:lnTo>
                    <a:pt x="6696583" y="998855"/>
                  </a:lnTo>
                  <a:lnTo>
                    <a:pt x="0" y="9988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5"/>
              </a:stretch>
            </a:blipFill>
          </p:spPr>
        </p:sp>
      </p:grpSp>
      <p:sp>
        <p:nvSpPr>
          <p:cNvPr id="8" name="Freeform 8"/>
          <p:cNvSpPr/>
          <p:nvPr/>
        </p:nvSpPr>
        <p:spPr>
          <a:xfrm>
            <a:off x="3163313" y="523697"/>
            <a:ext cx="2690517" cy="879592"/>
          </a:xfrm>
          <a:custGeom>
            <a:avLst/>
            <a:gdLst/>
            <a:ahLst/>
            <a:cxnLst/>
            <a:rect l="l" t="t" r="r" b="b"/>
            <a:pathLst>
              <a:path w="2690517" h="879592">
                <a:moveTo>
                  <a:pt x="0" y="0"/>
                </a:moveTo>
                <a:lnTo>
                  <a:pt x="2690518" y="0"/>
                </a:lnTo>
                <a:lnTo>
                  <a:pt x="2690518" y="879593"/>
                </a:lnTo>
                <a:lnTo>
                  <a:pt x="0" y="8795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401479" y="281194"/>
            <a:ext cx="2445886" cy="1222943"/>
          </a:xfrm>
          <a:custGeom>
            <a:avLst/>
            <a:gdLst/>
            <a:ahLst/>
            <a:cxnLst/>
            <a:rect l="l" t="t" r="r" b="b"/>
            <a:pathLst>
              <a:path w="2445886" h="1222943">
                <a:moveTo>
                  <a:pt x="0" y="0"/>
                </a:moveTo>
                <a:lnTo>
                  <a:pt x="2445886" y="0"/>
                </a:lnTo>
                <a:lnTo>
                  <a:pt x="2445886" y="1222943"/>
                </a:lnTo>
                <a:lnTo>
                  <a:pt x="0" y="12229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990600" y="2498970"/>
            <a:ext cx="15928134" cy="1045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20"/>
              </a:lnSpc>
            </a:pPr>
            <a:r>
              <a:rPr lang="en-US" sz="4100" u="sng">
                <a:solidFill>
                  <a:srgbClr val="C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Solution (Describe your Idea / Solution / Prototype)</a:t>
            </a:r>
            <a:endParaRPr lang="en-US" sz="4100" u="sng">
              <a:solidFill>
                <a:srgbClr val="C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How It Works:</a:t>
            </a:r>
            <a:endParaRPr lang="en-US" sz="2700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4585802" y="1687683"/>
            <a:ext cx="9116397" cy="81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u="sng">
                <a:solidFill>
                  <a:srgbClr val="4472C4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IDEA TITLE</a:t>
            </a:r>
            <a:endParaRPr lang="en-US" sz="5400" u="sng">
              <a:solidFill>
                <a:srgbClr val="4472C4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12" name="Freeform 12"/>
          <p:cNvSpPr/>
          <p:nvPr/>
        </p:nvSpPr>
        <p:spPr>
          <a:xfrm>
            <a:off x="16739206" y="471221"/>
            <a:ext cx="1040189" cy="1032916"/>
          </a:xfrm>
          <a:custGeom>
            <a:avLst/>
            <a:gdLst/>
            <a:ahLst/>
            <a:cxnLst/>
            <a:rect l="l" t="t" r="r" b="b"/>
            <a:pathLst>
              <a:path w="1040189" h="1032916">
                <a:moveTo>
                  <a:pt x="0" y="0"/>
                </a:moveTo>
                <a:lnTo>
                  <a:pt x="1040188" y="0"/>
                </a:lnTo>
                <a:lnTo>
                  <a:pt x="1040188" y="1032916"/>
                </a:lnTo>
                <a:lnTo>
                  <a:pt x="0" y="103291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3633" t="-14434" r="-13983" b="-14081"/>
            </a:stretch>
          </a:blipFill>
        </p:spPr>
      </p:sp>
      <p:pic>
        <p:nvPicPr>
          <p:cNvPr id="16" name="Picture 15" descr="Screenshot 2026-03-29 at 11.39.21 PM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96400" y="3695700"/>
            <a:ext cx="8690610" cy="3870960"/>
          </a:xfrm>
          <a:prstGeom prst="rect">
            <a:avLst/>
          </a:prstGeom>
        </p:spPr>
      </p:pic>
      <p:sp>
        <p:nvSpPr>
          <p:cNvPr id="14" name="TextBox 2"/>
          <p:cNvSpPr txBox="1"/>
          <p:nvPr/>
        </p:nvSpPr>
        <p:spPr>
          <a:xfrm>
            <a:off x="9296400" y="3162300"/>
            <a:ext cx="17831435" cy="8769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marL="323850" lvl="1" indent="0" algn="l">
              <a:lnSpc>
                <a:spcPts val="3600"/>
              </a:lnSpc>
              <a:buFont typeface="Arial" panose="020B0604020202020204"/>
              <a:buNone/>
            </a:pPr>
            <a:r>
              <a:rPr lang="en-US" sz="300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How TraceX Solves Key Problems</a:t>
            </a:r>
            <a:endParaRPr lang="en-US" sz="3000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l">
              <a:lnSpc>
                <a:spcPts val="3240"/>
              </a:lnSpc>
            </a:pPr>
            <a:endParaRPr lang="en-US" sz="3000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15" name="TextBox 2"/>
          <p:cNvSpPr txBox="1"/>
          <p:nvPr/>
        </p:nvSpPr>
        <p:spPr>
          <a:xfrm>
            <a:off x="457200" y="7734300"/>
            <a:ext cx="15883890" cy="27698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marL="323850" lvl="1" indent="0" algn="l">
              <a:lnSpc>
                <a:spcPts val="3600"/>
              </a:lnSpc>
              <a:buFont typeface="Arial" panose="020B0604020202020204" pitchFamily="34" charset="0"/>
              <a:buNone/>
            </a:pPr>
            <a:r>
              <a:rPr lang="en-US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Pipeline:</a:t>
            </a:r>
            <a:endParaRPr lang="en-US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323850" lvl="1" indent="0" algn="l">
              <a:lnSpc>
                <a:spcPts val="3600"/>
              </a:lnSpc>
              <a:buFont typeface="Arial" panose="020B0604020202020204" pitchFamily="34" charset="0"/>
              <a:buNone/>
            </a:pPr>
            <a:r>
              <a:rPr lang="en-US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1. Data Ingestion → Transactions + account metadata</a:t>
            </a:r>
            <a:endParaRPr lang="en-US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323850" lvl="1" indent="0" algn="l">
              <a:lnSpc>
                <a:spcPts val="3600"/>
              </a:lnSpc>
              <a:buFont typeface="Arial" panose="020B0604020202020204" pitchFamily="34" charset="0"/>
              <a:buNone/>
            </a:pPr>
            <a:r>
              <a:rPr lang="en-US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2. Graph Construction → Accounts (nodes), transactions (edges)</a:t>
            </a:r>
            <a:endParaRPr lang="en-US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323850" lvl="1" indent="0" algn="l">
              <a:lnSpc>
                <a:spcPts val="3600"/>
              </a:lnSpc>
              <a:buFont typeface="Arial" panose="020B0604020202020204" pitchFamily="34" charset="0"/>
              <a:buNone/>
            </a:pPr>
            <a:r>
              <a:rPr lang="en-US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3. Feature Engineering → Graph + behavioral + profile features</a:t>
            </a:r>
            <a:endParaRPr lang="en-US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323850" lvl="1" indent="0" algn="l">
              <a:lnSpc>
                <a:spcPts val="3600"/>
              </a:lnSpc>
              <a:buFont typeface="Arial" panose="020B0604020202020204" pitchFamily="34" charset="0"/>
              <a:buNone/>
            </a:pPr>
            <a:r>
              <a:rPr lang="en-US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4. Multi-Layer Detection → ML (Isolation Forest, XGBoost) + rules + graph analytics</a:t>
            </a:r>
            <a:endParaRPr lang="en-US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323850" lvl="1" indent="0" algn="l">
              <a:lnSpc>
                <a:spcPts val="3600"/>
              </a:lnSpc>
              <a:buFont typeface="Arial" panose="020B0604020202020204" pitchFamily="34" charset="0"/>
              <a:buNone/>
            </a:pPr>
            <a:endParaRPr lang="en-US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pic>
        <p:nvPicPr>
          <p:cNvPr id="17" name="Picture 16" descr="Gemini_Generated_Image_21lrxs21lrxs21lr (2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200" y="3543300"/>
            <a:ext cx="7545705" cy="4116070"/>
          </a:xfrm>
          <a:prstGeom prst="rect">
            <a:avLst/>
          </a:prstGeom>
        </p:spPr>
      </p:pic>
      <p:sp>
        <p:nvSpPr>
          <p:cNvPr id="18" name="TextBox 2"/>
          <p:cNvSpPr txBox="1"/>
          <p:nvPr/>
        </p:nvSpPr>
        <p:spPr>
          <a:xfrm>
            <a:off x="9144000" y="7962900"/>
            <a:ext cx="15883890" cy="13849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marL="323850" lvl="1" indent="0" algn="l">
              <a:lnSpc>
                <a:spcPts val="3600"/>
              </a:lnSpc>
              <a:buFont typeface="Arial" panose="020B0604020202020204" pitchFamily="34" charset="0"/>
              <a:buNone/>
            </a:pPr>
            <a:r>
              <a:rPr lang="en-US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5. Risk Intelligence → Risk score + confidence + priority + role classification</a:t>
            </a:r>
            <a:endParaRPr lang="en-US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323850" lvl="1" indent="0" algn="l">
              <a:lnSpc>
                <a:spcPts val="3600"/>
              </a:lnSpc>
              <a:buFont typeface="Arial" panose="020B0604020202020204" pitchFamily="34" charset="0"/>
              <a:buNone/>
            </a:pPr>
            <a:r>
              <a:rPr lang="en-US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6. Investigator Interface → Graph explorer, summaries, pattern detection</a:t>
            </a:r>
            <a:endParaRPr lang="en-US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323850" lvl="1" indent="0" algn="l">
              <a:lnSpc>
                <a:spcPts val="3600"/>
              </a:lnSpc>
              <a:buFont typeface="Arial" panose="020B0604020202020204" pitchFamily="34" charset="0"/>
              <a:buNone/>
            </a:pPr>
            <a:r>
              <a:rPr lang="en-US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7. Evidence Generation → One-click STR pack (PDF + JSON + graph)</a:t>
            </a:r>
            <a:endParaRPr lang="en-US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697181"/>
            <a:chOff x="0" y="0"/>
            <a:chExt cx="4816593" cy="4469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446994"/>
            </a:xfrm>
            <a:custGeom>
              <a:avLst/>
              <a:gdLst/>
              <a:ahLst/>
              <a:cxnLst/>
              <a:rect l="l" t="t" r="r" b="b"/>
              <a:pathLst>
                <a:path w="4816592" h="446994">
                  <a:moveTo>
                    <a:pt x="0" y="0"/>
                  </a:moveTo>
                  <a:lnTo>
                    <a:pt x="4816592" y="0"/>
                  </a:lnTo>
                  <a:lnTo>
                    <a:pt x="4816592" y="446994"/>
                  </a:lnTo>
                  <a:lnTo>
                    <a:pt x="0" y="44699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4850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5" name="Freeform 5"/>
          <p:cNvSpPr/>
          <p:nvPr/>
        </p:nvSpPr>
        <p:spPr>
          <a:xfrm>
            <a:off x="6662574" y="122606"/>
            <a:ext cx="3497653" cy="1540119"/>
          </a:xfrm>
          <a:custGeom>
            <a:avLst/>
            <a:gdLst/>
            <a:ahLst/>
            <a:cxnLst/>
            <a:rect l="l" t="t" r="r" b="b"/>
            <a:pathLst>
              <a:path w="3497653" h="1540119">
                <a:moveTo>
                  <a:pt x="0" y="0"/>
                </a:moveTo>
                <a:lnTo>
                  <a:pt x="3497653" y="0"/>
                </a:lnTo>
                <a:lnTo>
                  <a:pt x="3497653" y="1540119"/>
                </a:lnTo>
                <a:lnTo>
                  <a:pt x="0" y="1540119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l="-26230" t="-89762" r="-26367" b="-156792"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0969852" y="588904"/>
            <a:ext cx="5022437" cy="749179"/>
            <a:chOff x="0" y="0"/>
            <a:chExt cx="6696583" cy="998906"/>
          </a:xfrm>
        </p:grpSpPr>
        <p:sp>
          <p:nvSpPr>
            <p:cNvPr id="7" name="Freeform 7" descr="A red blue and white logo  Description automatically generated"/>
            <p:cNvSpPr/>
            <p:nvPr/>
          </p:nvSpPr>
          <p:spPr>
            <a:xfrm>
              <a:off x="0" y="0"/>
              <a:ext cx="6696583" cy="998855"/>
            </a:xfrm>
            <a:custGeom>
              <a:avLst/>
              <a:gdLst/>
              <a:ahLst/>
              <a:cxnLst/>
              <a:rect l="l" t="t" r="r" b="b"/>
              <a:pathLst>
                <a:path w="6696583" h="998855">
                  <a:moveTo>
                    <a:pt x="0" y="0"/>
                  </a:moveTo>
                  <a:lnTo>
                    <a:pt x="6696583" y="0"/>
                  </a:lnTo>
                  <a:lnTo>
                    <a:pt x="6696583" y="998855"/>
                  </a:lnTo>
                  <a:lnTo>
                    <a:pt x="0" y="9988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5"/>
              </a:stretch>
            </a:blipFill>
          </p:spPr>
        </p:sp>
      </p:grpSp>
      <p:sp>
        <p:nvSpPr>
          <p:cNvPr id="8" name="Freeform 8"/>
          <p:cNvSpPr/>
          <p:nvPr/>
        </p:nvSpPr>
        <p:spPr>
          <a:xfrm>
            <a:off x="3163313" y="523697"/>
            <a:ext cx="2690517" cy="879592"/>
          </a:xfrm>
          <a:custGeom>
            <a:avLst/>
            <a:gdLst/>
            <a:ahLst/>
            <a:cxnLst/>
            <a:rect l="l" t="t" r="r" b="b"/>
            <a:pathLst>
              <a:path w="2690517" h="879592">
                <a:moveTo>
                  <a:pt x="0" y="0"/>
                </a:moveTo>
                <a:lnTo>
                  <a:pt x="2690518" y="0"/>
                </a:lnTo>
                <a:lnTo>
                  <a:pt x="2690518" y="879593"/>
                </a:lnTo>
                <a:lnTo>
                  <a:pt x="0" y="8795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401479" y="281194"/>
            <a:ext cx="2445886" cy="1222943"/>
          </a:xfrm>
          <a:custGeom>
            <a:avLst/>
            <a:gdLst/>
            <a:ahLst/>
            <a:cxnLst/>
            <a:rect l="l" t="t" r="r" b="b"/>
            <a:pathLst>
              <a:path w="2445886" h="1222943">
                <a:moveTo>
                  <a:pt x="0" y="0"/>
                </a:moveTo>
                <a:lnTo>
                  <a:pt x="2445886" y="0"/>
                </a:lnTo>
                <a:lnTo>
                  <a:pt x="2445886" y="1222943"/>
                </a:lnTo>
                <a:lnTo>
                  <a:pt x="0" y="12229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864020" y="1974068"/>
            <a:ext cx="16559961" cy="830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u="sng">
                <a:solidFill>
                  <a:srgbClr val="4472C4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DEMO DETAILS</a:t>
            </a:r>
            <a:endParaRPr lang="en-US" sz="5400" u="sng">
              <a:solidFill>
                <a:srgbClr val="4472C4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11" name="Freeform 11"/>
          <p:cNvSpPr/>
          <p:nvPr/>
        </p:nvSpPr>
        <p:spPr>
          <a:xfrm>
            <a:off x="16739206" y="471221"/>
            <a:ext cx="1040189" cy="1032916"/>
          </a:xfrm>
          <a:custGeom>
            <a:avLst/>
            <a:gdLst/>
            <a:ahLst/>
            <a:cxnLst/>
            <a:rect l="l" t="t" r="r" b="b"/>
            <a:pathLst>
              <a:path w="1040189" h="1032916">
                <a:moveTo>
                  <a:pt x="0" y="0"/>
                </a:moveTo>
                <a:lnTo>
                  <a:pt x="1040188" y="0"/>
                </a:lnTo>
                <a:lnTo>
                  <a:pt x="1040188" y="1032916"/>
                </a:lnTo>
                <a:lnTo>
                  <a:pt x="0" y="103291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3633" t="-14434" r="-13983" b="-14081"/>
            </a:stretch>
          </a:blipFill>
        </p:spPr>
      </p:sp>
      <p:sp>
        <p:nvSpPr>
          <p:cNvPr id="13" name="TextBox 2"/>
          <p:cNvSpPr txBox="1"/>
          <p:nvPr/>
        </p:nvSpPr>
        <p:spPr>
          <a:xfrm>
            <a:off x="228600" y="2476500"/>
            <a:ext cx="9822815" cy="83102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marL="323850" lvl="1" indent="0" algn="l">
              <a:lnSpc>
                <a:spcPts val="3600"/>
              </a:lnSpc>
              <a:buFont typeface="Arial" panose="020B0604020202020204"/>
              <a:buNone/>
            </a:pPr>
            <a:endParaRPr lang="en-US" sz="2000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323850" lvl="1" indent="0" algn="l">
              <a:lnSpc>
                <a:spcPts val="3600"/>
              </a:lnSpc>
              <a:buFont typeface="Arial" panose="020B0604020202020204"/>
              <a:buNone/>
            </a:pPr>
            <a:r>
              <a:rPr lang="en-US" sz="2000" b="1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Beyond Traditional AML Systems</a:t>
            </a:r>
            <a:endParaRPr lang="en-US" sz="2000" b="1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666750" lvl="1" indent="-342900" algn="l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Moves from transaction-based monitoring to a full graph-based fund flow model</a:t>
            </a:r>
            <a:endParaRPr lang="en-US" sz="2000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666750" lvl="1" indent="-342900" algn="l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Replaces static rules with an ensemble approach combining ML, graph analytics, and pattern detection</a:t>
            </a:r>
            <a:endParaRPr lang="en-US" sz="2000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666750" lvl="1" indent="-342900" algn="l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Transforms alerts into explainable insights with confidence levels and feature importance</a:t>
            </a:r>
            <a:endParaRPr lang="en-US" sz="2000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666750" lvl="1" indent="-342900" algn="l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Converts raw data into complete account intelligence (Role, Risk, Confidence, Priority, History)</a:t>
            </a:r>
            <a:endParaRPr lang="en-US" sz="2000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666750" lvl="1" indent="-342900" algn="l">
              <a:lnSpc>
                <a:spcPts val="3600"/>
              </a:lnSpc>
              <a:buFont typeface="Arial" panose="020B0604020202020204"/>
              <a:buNone/>
            </a:pPr>
            <a:endParaRPr lang="en-US" sz="2000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323850" lvl="1" indent="0" algn="l">
              <a:lnSpc>
                <a:spcPts val="3600"/>
              </a:lnSpc>
              <a:buFont typeface="Arial" panose="020B0604020202020204"/>
              <a:buNone/>
            </a:pPr>
            <a:r>
              <a:rPr lang="en-US" sz="2000" b="1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Reinventing Investigation Experience</a:t>
            </a:r>
            <a:endParaRPr lang="en-US" sz="2000" b="1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666750" lvl="1" indent="-342900" algn="l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From static dashboards → interactive graph exploration</a:t>
            </a:r>
            <a:endParaRPr lang="en-US" sz="2000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666750" lvl="1" indent="-342900" algn="l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From fragmented alerts → end-to-end fund flow tracing</a:t>
            </a:r>
            <a:endParaRPr lang="en-US" sz="2000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666750" lvl="1" indent="-342900" algn="l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From manual reporting → one-click FIU-compliant evidence generation</a:t>
            </a:r>
            <a:endParaRPr lang="en-US" sz="2000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666750" lvl="1" indent="-342900" algn="l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From partial visibility → unified cross-channel intelligence</a:t>
            </a:r>
            <a:endParaRPr lang="en-US" sz="2000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666750" lvl="1" indent="-342900" algn="l">
              <a:lnSpc>
                <a:spcPts val="3600"/>
              </a:lnSpc>
              <a:buFont typeface="Arial" panose="020B0604020202020204"/>
              <a:buNone/>
            </a:pPr>
            <a:endParaRPr lang="en-US" sz="2000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15" name="TextBox 2"/>
          <p:cNvSpPr txBox="1"/>
          <p:nvPr/>
        </p:nvSpPr>
        <p:spPr>
          <a:xfrm>
            <a:off x="10160000" y="3009900"/>
            <a:ext cx="8252460" cy="60013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marL="323850" lvl="1" indent="0" algn="l">
              <a:lnSpc>
                <a:spcPts val="3600"/>
              </a:lnSpc>
              <a:buFont typeface="Arial" panose="020B0604020202020204"/>
              <a:buNone/>
            </a:pPr>
            <a:r>
              <a:rPr lang="en-US" sz="2000" b="1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Advanced Fraud Understanding</a:t>
            </a:r>
            <a:endParaRPr lang="en-US" sz="2000" b="1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666750" lvl="1" indent="-342900" algn="l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Detects 6+ fraud typologies with pattern combinations</a:t>
            </a:r>
            <a:endParaRPr lang="en-US" sz="2000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666750" lvl="1" indent="-342900" algn="l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Identifies first suspicious transaction (fraud origin)</a:t>
            </a:r>
            <a:endParaRPr lang="en-US" sz="2000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666750" lvl="1" indent="-342900" algn="l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Tracks fund velocity and rapid movement patterns</a:t>
            </a:r>
            <a:endParaRPr lang="en-US" sz="2000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666750" lvl="1" indent="-342900" algn="l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Enables real behavioral analysis instead of rule triggers</a:t>
            </a:r>
            <a:endParaRPr lang="en-US" sz="2000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666750" lvl="1" indent="-342900" algn="l">
              <a:lnSpc>
                <a:spcPts val="3600"/>
              </a:lnSpc>
              <a:buFont typeface="Arial" panose="020B0604020202020204"/>
              <a:buNone/>
            </a:pPr>
            <a:endParaRPr lang="en-US" sz="2000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323850" lvl="1" indent="0" algn="l">
              <a:lnSpc>
                <a:spcPts val="3600"/>
              </a:lnSpc>
              <a:buFont typeface="Arial" panose="020B0604020202020204"/>
              <a:buNone/>
            </a:pPr>
            <a:r>
              <a:rPr lang="en-US" sz="2000" b="1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Our Unique Innovations</a:t>
            </a:r>
            <a:endParaRPr lang="en-US" sz="2000" b="1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666750" lvl="1" indent="-342900" algn="l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Fraud Confidence Meter for reducing false positives</a:t>
            </a:r>
            <a:endParaRPr lang="en-US" sz="2000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666750" lvl="1" indent="-342900" algn="l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First Suspicious Point Detection to identify origin of fraud</a:t>
            </a:r>
            <a:endParaRPr lang="en-US" sz="2000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666750" lvl="1" indent="-342900" algn="l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Account Role Classification (Source / Mule / Sink)</a:t>
            </a:r>
            <a:endParaRPr lang="en-US" sz="2000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666750" lvl="1" indent="-342900" algn="l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Pattern Combination Detection for complex fraud scenarios</a:t>
            </a:r>
            <a:endParaRPr lang="en-US" sz="2000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666750" lvl="1" indent="-342900" algn="l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One-Click Evidence Pack (FIU-ready in seconds)</a:t>
            </a:r>
            <a:endParaRPr lang="en-US" sz="2000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01320" y="3162300"/>
            <a:ext cx="17831435" cy="50317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47700" lvl="1" indent="-323850" algn="l">
              <a:lnSpc>
                <a:spcPts val="3600"/>
              </a:lnSpc>
              <a:buFont typeface="Arial" panose="020B0604020202020204"/>
              <a:buChar char="•"/>
            </a:pPr>
            <a:r>
              <a:rPr lang="en-US" sz="300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Technologies to be used : 			</a:t>
            </a:r>
            <a:r>
              <a:rPr lang="en-US" sz="300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Methodology and process for implementation:</a:t>
            </a:r>
            <a:endParaRPr lang="en-US" sz="3000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647700" lvl="1" indent="-323850" algn="l">
              <a:lnSpc>
                <a:spcPts val="3600"/>
              </a:lnSpc>
              <a:buFont typeface="Arial" panose="020B0604020202020204"/>
              <a:buChar char="•"/>
            </a:pPr>
            <a:r>
              <a:rPr lang="en-US" sz="240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Graph: NetworkX</a:t>
            </a:r>
            <a:endParaRPr lang="en-US" sz="2400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647700" lvl="1" indent="-323850" algn="l">
              <a:lnSpc>
                <a:spcPts val="3600"/>
              </a:lnSpc>
              <a:buFont typeface="Arial" panose="020B0604020202020204"/>
              <a:buChar char="•"/>
            </a:pPr>
            <a:r>
              <a:rPr lang="en-US" sz="240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ML: Isolation Forest, XGBoost</a:t>
            </a:r>
            <a:endParaRPr lang="en-US" sz="2400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647700" lvl="1" indent="-323850" algn="l">
              <a:lnSpc>
                <a:spcPts val="3600"/>
              </a:lnSpc>
              <a:buFont typeface="Arial" panose="020B0604020202020204"/>
              <a:buChar char="•"/>
            </a:pPr>
            <a:r>
              <a:rPr lang="en-US" sz="240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Data: pandas, numpy</a:t>
            </a:r>
            <a:endParaRPr lang="en-US" sz="2400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647700" lvl="1" indent="-323850" algn="l">
              <a:lnSpc>
                <a:spcPts val="3600"/>
              </a:lnSpc>
              <a:buFont typeface="Arial" panose="020B0604020202020204"/>
              <a:buChar char="•"/>
            </a:pPr>
            <a:r>
              <a:rPr lang="en-US" sz="240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Full Stack: Streamlit/Next.js</a:t>
            </a:r>
            <a:endParaRPr lang="en-US" sz="2400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647700" lvl="1" indent="-323850" algn="l">
              <a:lnSpc>
                <a:spcPts val="3600"/>
              </a:lnSpc>
              <a:buFont typeface="Arial" panose="020B0604020202020204"/>
              <a:buChar char="•"/>
            </a:pPr>
            <a:r>
              <a:rPr lang="en-US" sz="240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Visualization: PyVis, Plotly</a:t>
            </a:r>
            <a:endParaRPr lang="en-US" sz="2400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647700" lvl="1" indent="-323850" algn="l">
              <a:lnSpc>
                <a:spcPts val="3600"/>
              </a:lnSpc>
              <a:buFont typeface="Arial" panose="020B0604020202020204"/>
              <a:buChar char="•"/>
            </a:pPr>
            <a:r>
              <a:rPr lang="en-US" sz="240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Reports: PDF + JSON</a:t>
            </a:r>
            <a:endParaRPr lang="en-US" sz="2400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647700" lvl="1" indent="-323850" algn="l">
              <a:lnSpc>
                <a:spcPts val="3600"/>
              </a:lnSpc>
              <a:buFont typeface="Arial" panose="020B0604020202020204"/>
              <a:buChar char="•"/>
            </a:pPr>
            <a:r>
              <a:rPr lang="en-US" sz="240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Language: Python</a:t>
            </a:r>
            <a:endParaRPr lang="en-US" sz="2400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647700" lvl="1" indent="-323850" algn="l">
              <a:lnSpc>
                <a:spcPts val="3600"/>
              </a:lnSpc>
              <a:buFont typeface="Arial" panose="020B0604020202020204"/>
              <a:buChar char="•"/>
            </a:pPr>
            <a:endParaRPr lang="en-US" sz="3000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647700" lvl="1" indent="-323850" algn="l">
              <a:lnSpc>
                <a:spcPts val="3600"/>
              </a:lnSpc>
              <a:buFont typeface="Arial" panose="020B0604020202020204"/>
              <a:buChar char="•"/>
            </a:pPr>
            <a:endParaRPr lang="en-US" sz="3000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l">
              <a:lnSpc>
                <a:spcPts val="3240"/>
              </a:lnSpc>
            </a:pPr>
            <a:endParaRPr lang="en-US" sz="3000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697181"/>
            <a:chOff x="0" y="0"/>
            <a:chExt cx="4816593" cy="44699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446994"/>
            </a:xfrm>
            <a:custGeom>
              <a:avLst/>
              <a:gdLst/>
              <a:ahLst/>
              <a:cxnLst/>
              <a:rect l="l" t="t" r="r" b="b"/>
              <a:pathLst>
                <a:path w="4816592" h="446994">
                  <a:moveTo>
                    <a:pt x="0" y="0"/>
                  </a:moveTo>
                  <a:lnTo>
                    <a:pt x="4816592" y="0"/>
                  </a:lnTo>
                  <a:lnTo>
                    <a:pt x="4816592" y="446994"/>
                  </a:lnTo>
                  <a:lnTo>
                    <a:pt x="0" y="44699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4850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6" name="Freeform 6"/>
          <p:cNvSpPr/>
          <p:nvPr/>
        </p:nvSpPr>
        <p:spPr>
          <a:xfrm>
            <a:off x="6662574" y="122606"/>
            <a:ext cx="3497653" cy="1540119"/>
          </a:xfrm>
          <a:custGeom>
            <a:avLst/>
            <a:gdLst/>
            <a:ahLst/>
            <a:cxnLst/>
            <a:rect l="l" t="t" r="r" b="b"/>
            <a:pathLst>
              <a:path w="3497653" h="1540119">
                <a:moveTo>
                  <a:pt x="0" y="0"/>
                </a:moveTo>
                <a:lnTo>
                  <a:pt x="3497653" y="0"/>
                </a:lnTo>
                <a:lnTo>
                  <a:pt x="3497653" y="1540119"/>
                </a:lnTo>
                <a:lnTo>
                  <a:pt x="0" y="1540119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l="-26230" t="-89762" r="-26367" b="-156792"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0969852" y="588904"/>
            <a:ext cx="5022437" cy="749179"/>
            <a:chOff x="0" y="0"/>
            <a:chExt cx="6696583" cy="998906"/>
          </a:xfrm>
        </p:grpSpPr>
        <p:sp>
          <p:nvSpPr>
            <p:cNvPr id="8" name="Freeform 8" descr="A red blue and white logo  Description automatically generated"/>
            <p:cNvSpPr/>
            <p:nvPr/>
          </p:nvSpPr>
          <p:spPr>
            <a:xfrm>
              <a:off x="0" y="0"/>
              <a:ext cx="6696583" cy="998855"/>
            </a:xfrm>
            <a:custGeom>
              <a:avLst/>
              <a:gdLst/>
              <a:ahLst/>
              <a:cxnLst/>
              <a:rect l="l" t="t" r="r" b="b"/>
              <a:pathLst>
                <a:path w="6696583" h="998855">
                  <a:moveTo>
                    <a:pt x="0" y="0"/>
                  </a:moveTo>
                  <a:lnTo>
                    <a:pt x="6696583" y="0"/>
                  </a:lnTo>
                  <a:lnTo>
                    <a:pt x="6696583" y="998855"/>
                  </a:lnTo>
                  <a:lnTo>
                    <a:pt x="0" y="9988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5"/>
              </a:stretch>
            </a:blipFill>
          </p:spPr>
        </p:sp>
      </p:grpSp>
      <p:sp>
        <p:nvSpPr>
          <p:cNvPr id="9" name="Freeform 9"/>
          <p:cNvSpPr/>
          <p:nvPr/>
        </p:nvSpPr>
        <p:spPr>
          <a:xfrm>
            <a:off x="3163313" y="523697"/>
            <a:ext cx="2690517" cy="879592"/>
          </a:xfrm>
          <a:custGeom>
            <a:avLst/>
            <a:gdLst/>
            <a:ahLst/>
            <a:cxnLst/>
            <a:rect l="l" t="t" r="r" b="b"/>
            <a:pathLst>
              <a:path w="2690517" h="879592">
                <a:moveTo>
                  <a:pt x="0" y="0"/>
                </a:moveTo>
                <a:lnTo>
                  <a:pt x="2690518" y="0"/>
                </a:lnTo>
                <a:lnTo>
                  <a:pt x="2690518" y="879593"/>
                </a:lnTo>
                <a:lnTo>
                  <a:pt x="0" y="8795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401479" y="281194"/>
            <a:ext cx="2445886" cy="1222943"/>
          </a:xfrm>
          <a:custGeom>
            <a:avLst/>
            <a:gdLst/>
            <a:ahLst/>
            <a:cxnLst/>
            <a:rect l="l" t="t" r="r" b="b"/>
            <a:pathLst>
              <a:path w="2445886" h="1222943">
                <a:moveTo>
                  <a:pt x="0" y="0"/>
                </a:moveTo>
                <a:lnTo>
                  <a:pt x="2445886" y="0"/>
                </a:lnTo>
                <a:lnTo>
                  <a:pt x="2445886" y="1222943"/>
                </a:lnTo>
                <a:lnTo>
                  <a:pt x="0" y="12229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4585802" y="1974068"/>
            <a:ext cx="9116397" cy="81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u="sng">
                <a:solidFill>
                  <a:srgbClr val="4472C4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TECHNICAL APPROACH</a:t>
            </a:r>
            <a:endParaRPr lang="en-US" sz="5400" u="sng">
              <a:solidFill>
                <a:srgbClr val="4472C4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12" name="Freeform 12"/>
          <p:cNvSpPr/>
          <p:nvPr/>
        </p:nvSpPr>
        <p:spPr>
          <a:xfrm>
            <a:off x="16739206" y="471221"/>
            <a:ext cx="1040189" cy="1032916"/>
          </a:xfrm>
          <a:custGeom>
            <a:avLst/>
            <a:gdLst/>
            <a:ahLst/>
            <a:cxnLst/>
            <a:rect l="l" t="t" r="r" b="b"/>
            <a:pathLst>
              <a:path w="1040189" h="1032916">
                <a:moveTo>
                  <a:pt x="0" y="0"/>
                </a:moveTo>
                <a:lnTo>
                  <a:pt x="1040188" y="0"/>
                </a:lnTo>
                <a:lnTo>
                  <a:pt x="1040188" y="1032916"/>
                </a:lnTo>
                <a:lnTo>
                  <a:pt x="0" y="103291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3633" t="-14434" r="-13983" b="-14081"/>
            </a:stretch>
          </a:blipFill>
        </p:spPr>
      </p:sp>
      <p:pic>
        <p:nvPicPr>
          <p:cNvPr id="15" name="Picture 14" descr="Gemini_Generated_Image_tn4qgytn4qgytn4q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66635" y="3695700"/>
            <a:ext cx="10412730" cy="56743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0" y="0"/>
            <a:ext cx="18288000" cy="1697181"/>
            <a:chOff x="0" y="0"/>
            <a:chExt cx="4816593" cy="44699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446994"/>
            </a:xfrm>
            <a:custGeom>
              <a:avLst/>
              <a:gdLst/>
              <a:ahLst/>
              <a:cxnLst/>
              <a:rect l="l" t="t" r="r" b="b"/>
              <a:pathLst>
                <a:path w="4816592" h="446994">
                  <a:moveTo>
                    <a:pt x="0" y="0"/>
                  </a:moveTo>
                  <a:lnTo>
                    <a:pt x="4816592" y="0"/>
                  </a:lnTo>
                  <a:lnTo>
                    <a:pt x="4816592" y="446994"/>
                  </a:lnTo>
                  <a:lnTo>
                    <a:pt x="0" y="44699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4850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6" name="Freeform 6"/>
          <p:cNvSpPr/>
          <p:nvPr/>
        </p:nvSpPr>
        <p:spPr>
          <a:xfrm>
            <a:off x="6662574" y="122606"/>
            <a:ext cx="3497653" cy="1540119"/>
          </a:xfrm>
          <a:custGeom>
            <a:avLst/>
            <a:gdLst/>
            <a:ahLst/>
            <a:cxnLst/>
            <a:rect l="l" t="t" r="r" b="b"/>
            <a:pathLst>
              <a:path w="3497653" h="1540119">
                <a:moveTo>
                  <a:pt x="0" y="0"/>
                </a:moveTo>
                <a:lnTo>
                  <a:pt x="3497653" y="0"/>
                </a:lnTo>
                <a:lnTo>
                  <a:pt x="3497653" y="1540119"/>
                </a:lnTo>
                <a:lnTo>
                  <a:pt x="0" y="1540119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l="-26230" t="-89762" r="-26367" b="-156792"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0969852" y="588904"/>
            <a:ext cx="5022437" cy="749179"/>
            <a:chOff x="0" y="0"/>
            <a:chExt cx="6696583" cy="998906"/>
          </a:xfrm>
        </p:grpSpPr>
        <p:sp>
          <p:nvSpPr>
            <p:cNvPr id="8" name="Freeform 8" descr="A red blue and white logo  Description automatically generated"/>
            <p:cNvSpPr/>
            <p:nvPr/>
          </p:nvSpPr>
          <p:spPr>
            <a:xfrm>
              <a:off x="0" y="0"/>
              <a:ext cx="6696583" cy="998855"/>
            </a:xfrm>
            <a:custGeom>
              <a:avLst/>
              <a:gdLst/>
              <a:ahLst/>
              <a:cxnLst/>
              <a:rect l="l" t="t" r="r" b="b"/>
              <a:pathLst>
                <a:path w="6696583" h="998855">
                  <a:moveTo>
                    <a:pt x="0" y="0"/>
                  </a:moveTo>
                  <a:lnTo>
                    <a:pt x="6696583" y="0"/>
                  </a:lnTo>
                  <a:lnTo>
                    <a:pt x="6696583" y="998855"/>
                  </a:lnTo>
                  <a:lnTo>
                    <a:pt x="0" y="9988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5"/>
              </a:stretch>
            </a:blipFill>
          </p:spPr>
        </p:sp>
      </p:grpSp>
      <p:sp>
        <p:nvSpPr>
          <p:cNvPr id="9" name="Freeform 9"/>
          <p:cNvSpPr/>
          <p:nvPr/>
        </p:nvSpPr>
        <p:spPr>
          <a:xfrm>
            <a:off x="3163313" y="523697"/>
            <a:ext cx="2690517" cy="879592"/>
          </a:xfrm>
          <a:custGeom>
            <a:avLst/>
            <a:gdLst/>
            <a:ahLst/>
            <a:cxnLst/>
            <a:rect l="l" t="t" r="r" b="b"/>
            <a:pathLst>
              <a:path w="2690517" h="879592">
                <a:moveTo>
                  <a:pt x="0" y="0"/>
                </a:moveTo>
                <a:lnTo>
                  <a:pt x="2690518" y="0"/>
                </a:lnTo>
                <a:lnTo>
                  <a:pt x="2690518" y="879593"/>
                </a:lnTo>
                <a:lnTo>
                  <a:pt x="0" y="8795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401479" y="281194"/>
            <a:ext cx="2445886" cy="1222943"/>
          </a:xfrm>
          <a:custGeom>
            <a:avLst/>
            <a:gdLst/>
            <a:ahLst/>
            <a:cxnLst/>
            <a:rect l="l" t="t" r="r" b="b"/>
            <a:pathLst>
              <a:path w="2445886" h="1222943">
                <a:moveTo>
                  <a:pt x="0" y="0"/>
                </a:moveTo>
                <a:lnTo>
                  <a:pt x="2445886" y="0"/>
                </a:lnTo>
                <a:lnTo>
                  <a:pt x="2445886" y="1222943"/>
                </a:lnTo>
                <a:lnTo>
                  <a:pt x="0" y="12229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4571832" y="1790553"/>
            <a:ext cx="9116397" cy="81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u="sng">
                <a:solidFill>
                  <a:srgbClr val="4472C4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FEASIBILITY &amp; VIABILITY</a:t>
            </a:r>
            <a:endParaRPr lang="en-US" sz="5400" u="sng">
              <a:solidFill>
                <a:srgbClr val="4472C4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12" name="Freeform 12"/>
          <p:cNvSpPr/>
          <p:nvPr/>
        </p:nvSpPr>
        <p:spPr>
          <a:xfrm>
            <a:off x="16739206" y="471221"/>
            <a:ext cx="1040189" cy="1032916"/>
          </a:xfrm>
          <a:custGeom>
            <a:avLst/>
            <a:gdLst/>
            <a:ahLst/>
            <a:cxnLst/>
            <a:rect l="l" t="t" r="r" b="b"/>
            <a:pathLst>
              <a:path w="1040189" h="1032916">
                <a:moveTo>
                  <a:pt x="0" y="0"/>
                </a:moveTo>
                <a:lnTo>
                  <a:pt x="1040188" y="0"/>
                </a:lnTo>
                <a:lnTo>
                  <a:pt x="1040188" y="1032916"/>
                </a:lnTo>
                <a:lnTo>
                  <a:pt x="0" y="103291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3633" t="-14434" r="-13983" b="-14081"/>
            </a:stretch>
          </a:blipFill>
        </p:spPr>
      </p:sp>
      <p:sp>
        <p:nvSpPr>
          <p:cNvPr id="13" name="TextBox 2"/>
          <p:cNvSpPr txBox="1"/>
          <p:nvPr/>
        </p:nvSpPr>
        <p:spPr>
          <a:xfrm>
            <a:off x="0" y="1976755"/>
            <a:ext cx="9345930" cy="83102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marL="323850" lvl="1" indent="0" algn="l">
              <a:lnSpc>
                <a:spcPts val="3600"/>
              </a:lnSpc>
              <a:buFont typeface="Arial" panose="020B0604020202020204"/>
              <a:buNone/>
            </a:pPr>
            <a:r>
              <a:rPr lang="en-US" b="1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Feasibility Assessment</a:t>
            </a:r>
            <a:endParaRPr lang="en-US" b="1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609600" lvl="1" indent="-285750" algn="l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Technical: Proven stack (NetworkX, XGBoost, Streamlit) → fast, scalable, real-time capable</a:t>
            </a:r>
            <a:endParaRPr lang="en-US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609600" lvl="1" indent="-285750" algn="l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Data: Synthetic Indian banking data + labeled fraud scenarios enable reliable demo &amp; training</a:t>
            </a:r>
            <a:endParaRPr lang="en-US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609600" lvl="1" indent="-285750" algn="l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Time (24 hrs): Parallel development (4 devs) → all core features achievable</a:t>
            </a:r>
            <a:endParaRPr lang="en-US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609600" lvl="1" indent="-285750" algn="l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Cost: 100% open-source → zero licensing, runs on local systems</a:t>
            </a:r>
            <a:endParaRPr lang="en-US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609600" lvl="1" indent="-285750" algn="l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Regulatory: Aligned with FIU-IND, PMLA Sec 12, RBI AML/KYC norms</a:t>
            </a:r>
            <a:endParaRPr lang="en-US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609600" lvl="1" indent="-285750" algn="l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Scalability: Designed for NetworkX → Neo4j migration (handles millions of accounts in production)</a:t>
            </a:r>
            <a:endParaRPr lang="en-US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323850" lvl="1" indent="0" algn="l">
              <a:lnSpc>
                <a:spcPts val="3600"/>
              </a:lnSpc>
              <a:buFont typeface="Arial" panose="020B0604020202020204" pitchFamily="34" charset="0"/>
              <a:buNone/>
            </a:pPr>
            <a:r>
              <a:rPr lang="en-US" b="1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Key Risks</a:t>
            </a:r>
            <a:endParaRPr lang="en-US" b="1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609600" lvl="1" indent="-285750" algn="l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Graph rendering slows with large datasets</a:t>
            </a:r>
            <a:endParaRPr lang="en-US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609600" lvl="1" indent="-285750" algn="l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ML models may overfit synthetic data</a:t>
            </a:r>
            <a:endParaRPr lang="en-US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609600" lvl="1" indent="-285750" algn="l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Cycle detection computationally expensive</a:t>
            </a:r>
            <a:endParaRPr lang="en-US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609600" lvl="1" indent="-285750" algn="l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Real bank data is noisy &amp; inconsistent</a:t>
            </a:r>
            <a:endParaRPr lang="en-US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609600" lvl="1" indent="-285750" algn="l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False positives still possible</a:t>
            </a:r>
            <a:endParaRPr lang="en-US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609600" lvl="1" indent="-285750" algn="l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Integration with legacy CBS systems</a:t>
            </a:r>
            <a:endParaRPr lang="en-US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609600" lvl="1" indent="-285750" algn="l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Data privacy &amp; DPDP compliance challenges</a:t>
            </a:r>
            <a:endParaRPr lang="en-US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14" name="TextBox 2"/>
          <p:cNvSpPr txBox="1"/>
          <p:nvPr/>
        </p:nvSpPr>
        <p:spPr>
          <a:xfrm>
            <a:off x="9525000" y="2609850"/>
            <a:ext cx="9123045" cy="36931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marL="323850" lvl="1" indent="0" algn="l">
              <a:lnSpc>
                <a:spcPts val="3600"/>
              </a:lnSpc>
              <a:buFont typeface="Arial" panose="020B0604020202020204"/>
              <a:buNone/>
            </a:pPr>
            <a:r>
              <a:rPr lang="en-US" b="1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Mitigation Strategies</a:t>
            </a:r>
            <a:endParaRPr lang="en-US" b="1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323850" lvl="1" indent="0" algn="l">
              <a:lnSpc>
                <a:spcPts val="3600"/>
              </a:lnSpc>
              <a:buFont typeface="Arial" panose="020B0604020202020204"/>
              <a:buNone/>
            </a:pPr>
            <a:r>
              <a:rPr lang="en-US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Performance: Progressive graph rendering + suspicious-only view</a:t>
            </a:r>
            <a:endParaRPr lang="en-US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323850" lvl="1" indent="0" algn="l">
              <a:lnSpc>
                <a:spcPts val="3600"/>
              </a:lnSpc>
              <a:buFont typeface="Arial" panose="020B0604020202020204"/>
              <a:buNone/>
            </a:pPr>
            <a:r>
              <a:rPr lang="en-US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Model Robustness: Isolation Forest (unsupervised) + retraining on real data</a:t>
            </a:r>
            <a:endParaRPr lang="en-US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323850" lvl="1" indent="0" algn="l">
              <a:lnSpc>
                <a:spcPts val="3600"/>
              </a:lnSpc>
              <a:buFont typeface="Arial" panose="020B0604020202020204"/>
              <a:buNone/>
            </a:pPr>
            <a:r>
              <a:rPr lang="en-US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Efficiency: Limit cycle depth + pre-filter high-risk nodes</a:t>
            </a:r>
            <a:endParaRPr lang="en-US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323850" lvl="1" indent="0" algn="l">
              <a:lnSpc>
                <a:spcPts val="3600"/>
              </a:lnSpc>
              <a:buFont typeface="Arial" panose="020B0604020202020204"/>
              <a:buNone/>
            </a:pPr>
            <a:r>
              <a:rPr lang="en-US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Data Quality: Strong ingestion layer (validation, null handling)</a:t>
            </a:r>
            <a:endParaRPr lang="en-US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323850" lvl="1" indent="0" algn="l">
              <a:lnSpc>
                <a:spcPts val="3600"/>
              </a:lnSpc>
              <a:buFont typeface="Arial" panose="020B0604020202020204"/>
              <a:buNone/>
            </a:pPr>
            <a:r>
              <a:rPr lang="en-US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False Positives: Confidence Meter + priority-based alert filtering</a:t>
            </a:r>
            <a:endParaRPr lang="en-US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323850" lvl="1" indent="0" algn="l">
              <a:lnSpc>
                <a:spcPts val="3600"/>
              </a:lnSpc>
              <a:buFont typeface="Arial" panose="020B0604020202020204"/>
              <a:buNone/>
            </a:pPr>
            <a:r>
              <a:rPr lang="en-US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Integration: API-based modular architecture (FastAPI, standard formats)</a:t>
            </a:r>
            <a:endParaRPr lang="en-US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323850" lvl="1" indent="0" algn="l">
              <a:lnSpc>
                <a:spcPts val="3600"/>
              </a:lnSpc>
              <a:buFont typeface="Arial" panose="020B0604020202020204"/>
              <a:buNone/>
            </a:pPr>
            <a:r>
              <a:rPr lang="en-US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Privacy: Federated design + hashed IDs, no raw PII exposure</a:t>
            </a:r>
            <a:endParaRPr lang="en-US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0" y="0"/>
            <a:ext cx="18288000" cy="1697181"/>
            <a:chOff x="0" y="0"/>
            <a:chExt cx="4816593" cy="44699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446994"/>
            </a:xfrm>
            <a:custGeom>
              <a:avLst/>
              <a:gdLst/>
              <a:ahLst/>
              <a:cxnLst/>
              <a:rect l="l" t="t" r="r" b="b"/>
              <a:pathLst>
                <a:path w="4816592" h="446994">
                  <a:moveTo>
                    <a:pt x="0" y="0"/>
                  </a:moveTo>
                  <a:lnTo>
                    <a:pt x="4816592" y="0"/>
                  </a:lnTo>
                  <a:lnTo>
                    <a:pt x="4816592" y="446994"/>
                  </a:lnTo>
                  <a:lnTo>
                    <a:pt x="0" y="44699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4850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6" name="Freeform 6"/>
          <p:cNvSpPr/>
          <p:nvPr/>
        </p:nvSpPr>
        <p:spPr>
          <a:xfrm>
            <a:off x="6662574" y="122606"/>
            <a:ext cx="3497653" cy="1540119"/>
          </a:xfrm>
          <a:custGeom>
            <a:avLst/>
            <a:gdLst/>
            <a:ahLst/>
            <a:cxnLst/>
            <a:rect l="l" t="t" r="r" b="b"/>
            <a:pathLst>
              <a:path w="3497653" h="1540119">
                <a:moveTo>
                  <a:pt x="0" y="0"/>
                </a:moveTo>
                <a:lnTo>
                  <a:pt x="3497653" y="0"/>
                </a:lnTo>
                <a:lnTo>
                  <a:pt x="3497653" y="1540119"/>
                </a:lnTo>
                <a:lnTo>
                  <a:pt x="0" y="1540119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l="-26230" t="-89762" r="-26367" b="-156792"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0969852" y="588904"/>
            <a:ext cx="5022437" cy="749179"/>
            <a:chOff x="0" y="0"/>
            <a:chExt cx="6696583" cy="998906"/>
          </a:xfrm>
        </p:grpSpPr>
        <p:sp>
          <p:nvSpPr>
            <p:cNvPr id="8" name="Freeform 8" descr="A red blue and white logo  Description automatically generated"/>
            <p:cNvSpPr/>
            <p:nvPr/>
          </p:nvSpPr>
          <p:spPr>
            <a:xfrm>
              <a:off x="0" y="0"/>
              <a:ext cx="6696583" cy="998855"/>
            </a:xfrm>
            <a:custGeom>
              <a:avLst/>
              <a:gdLst/>
              <a:ahLst/>
              <a:cxnLst/>
              <a:rect l="l" t="t" r="r" b="b"/>
              <a:pathLst>
                <a:path w="6696583" h="998855">
                  <a:moveTo>
                    <a:pt x="0" y="0"/>
                  </a:moveTo>
                  <a:lnTo>
                    <a:pt x="6696583" y="0"/>
                  </a:lnTo>
                  <a:lnTo>
                    <a:pt x="6696583" y="998855"/>
                  </a:lnTo>
                  <a:lnTo>
                    <a:pt x="0" y="9988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5"/>
              </a:stretch>
            </a:blipFill>
          </p:spPr>
        </p:sp>
      </p:grpSp>
      <p:sp>
        <p:nvSpPr>
          <p:cNvPr id="9" name="Freeform 9"/>
          <p:cNvSpPr/>
          <p:nvPr/>
        </p:nvSpPr>
        <p:spPr>
          <a:xfrm>
            <a:off x="3163313" y="523697"/>
            <a:ext cx="2690517" cy="879592"/>
          </a:xfrm>
          <a:custGeom>
            <a:avLst/>
            <a:gdLst/>
            <a:ahLst/>
            <a:cxnLst/>
            <a:rect l="l" t="t" r="r" b="b"/>
            <a:pathLst>
              <a:path w="2690517" h="879592">
                <a:moveTo>
                  <a:pt x="0" y="0"/>
                </a:moveTo>
                <a:lnTo>
                  <a:pt x="2690518" y="0"/>
                </a:lnTo>
                <a:lnTo>
                  <a:pt x="2690518" y="879593"/>
                </a:lnTo>
                <a:lnTo>
                  <a:pt x="0" y="8795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401479" y="281194"/>
            <a:ext cx="2445886" cy="1222943"/>
          </a:xfrm>
          <a:custGeom>
            <a:avLst/>
            <a:gdLst/>
            <a:ahLst/>
            <a:cxnLst/>
            <a:rect l="l" t="t" r="r" b="b"/>
            <a:pathLst>
              <a:path w="2445886" h="1222943">
                <a:moveTo>
                  <a:pt x="0" y="0"/>
                </a:moveTo>
                <a:lnTo>
                  <a:pt x="2445886" y="0"/>
                </a:lnTo>
                <a:lnTo>
                  <a:pt x="2445886" y="1222943"/>
                </a:lnTo>
                <a:lnTo>
                  <a:pt x="0" y="12229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4571832" y="1790553"/>
            <a:ext cx="9116397" cy="81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u="sng">
                <a:solidFill>
                  <a:srgbClr val="4472C4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BUSINESS MODEL</a:t>
            </a:r>
            <a:endParaRPr lang="en-US" sz="5400" u="sng">
              <a:solidFill>
                <a:srgbClr val="4472C4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12" name="Freeform 12"/>
          <p:cNvSpPr/>
          <p:nvPr/>
        </p:nvSpPr>
        <p:spPr>
          <a:xfrm>
            <a:off x="16739206" y="471221"/>
            <a:ext cx="1040189" cy="1032916"/>
          </a:xfrm>
          <a:custGeom>
            <a:avLst/>
            <a:gdLst/>
            <a:ahLst/>
            <a:cxnLst/>
            <a:rect l="l" t="t" r="r" b="b"/>
            <a:pathLst>
              <a:path w="1040189" h="1032916">
                <a:moveTo>
                  <a:pt x="0" y="0"/>
                </a:moveTo>
                <a:lnTo>
                  <a:pt x="1040188" y="0"/>
                </a:lnTo>
                <a:lnTo>
                  <a:pt x="1040188" y="1032916"/>
                </a:lnTo>
                <a:lnTo>
                  <a:pt x="0" y="103291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3633" t="-14434" r="-13983" b="-14081"/>
            </a:stretch>
          </a:blipFill>
        </p:spPr>
      </p:sp>
      <p:sp>
        <p:nvSpPr>
          <p:cNvPr id="13" name="TextBox 2"/>
          <p:cNvSpPr txBox="1"/>
          <p:nvPr/>
        </p:nvSpPr>
        <p:spPr>
          <a:xfrm>
            <a:off x="-76200" y="2095500"/>
            <a:ext cx="9345930" cy="83102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marL="323850" lvl="1" indent="0" algn="l">
              <a:lnSpc>
                <a:spcPts val="3600"/>
              </a:lnSpc>
              <a:buFont typeface="Arial" panose="020B0604020202020204"/>
              <a:buNone/>
            </a:pPr>
            <a:r>
              <a:rPr lang="en-US" b="1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Revenue Model (B2B SaaS + Licensing)</a:t>
            </a:r>
            <a:endParaRPr lang="en-US" b="1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609600" lvl="1" indent="-285750" algn="l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SaaS Subscription: ₹50L–₹2Cr/year per bank (cloud-hosted platform)</a:t>
            </a:r>
            <a:endParaRPr lang="en-US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609600" lvl="1" indent="-285750" algn="l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On-Premise License: ₹1Cr–₹5Cr + AMC for data-sovereign banks</a:t>
            </a:r>
            <a:endParaRPr lang="en-US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609600" lvl="1" indent="-285750" algn="l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Implementation &amp; Integration: ₹25L–₹75L (CBS + custom rules)</a:t>
            </a:r>
            <a:endParaRPr lang="en-US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609600" lvl="1" indent="-285750" algn="l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Training &amp; Support: ₹10L–₹25L/year</a:t>
            </a:r>
            <a:endParaRPr lang="en-US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609600" lvl="1" indent="-285750" algn="l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FIU Report-as-a-Service: ₹500–₹2000 per evidence pack</a:t>
            </a:r>
            <a:endParaRPr lang="en-US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609600" lvl="1" indent="-285750" algn="l">
              <a:lnSpc>
                <a:spcPts val="3600"/>
              </a:lnSpc>
              <a:buFont typeface="Arial" panose="020B0604020202020204"/>
              <a:buNone/>
            </a:pPr>
            <a:r>
              <a:rPr lang="en-US" b="1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Target Customers</a:t>
            </a:r>
            <a:endParaRPr lang="en-US" b="1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609600" lvl="1" indent="-285750" algn="l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Primary: Public Sector Banks (high compliance burden, regulatory pressure)</a:t>
            </a:r>
            <a:endParaRPr lang="en-US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609600" lvl="1" indent="-285750" algn="l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High Potential: Private Banks, Fintechs (digital fraud risk, tech adoption)</a:t>
            </a:r>
            <a:endParaRPr lang="en-US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609600" lvl="1" indent="-285750" algn="l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Growing Segments: NBFCs, Cooperative Banks under increasing AML scrutiny</a:t>
            </a:r>
            <a:endParaRPr lang="en-US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609600" lvl="1" indent="-285750" algn="l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Value Proposition</a:t>
            </a:r>
            <a:endParaRPr lang="en-US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323850" lvl="1" indent="0" algn="l">
              <a:lnSpc>
                <a:spcPts val="3600"/>
              </a:lnSpc>
              <a:buFont typeface="Arial" panose="020B0604020202020204"/>
              <a:buNone/>
            </a:pPr>
            <a:r>
              <a:rPr lang="en-US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TraceX transforms AML from manual, high-false-positive systems into a graph-powered, explainable intelligence platform</a:t>
            </a:r>
            <a:endParaRPr lang="en-US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609600" lvl="1" indent="-285750" algn="l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→ 3× fewer false positives</a:t>
            </a:r>
            <a:endParaRPr lang="en-US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609600" lvl="1" indent="-285750" algn="l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→ 10× faster investigations</a:t>
            </a:r>
            <a:endParaRPr lang="en-US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609600" lvl="1" indent="-285750" algn="l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→ One-click FIU-compliant evidence generation</a:t>
            </a:r>
            <a:endParaRPr lang="en-US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609600" lvl="1" indent="-285750" algn="l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→ End-to-end fund flow visibility with actionable insights</a:t>
            </a:r>
            <a:endParaRPr lang="en-US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14" name="TextBox 2"/>
          <p:cNvSpPr txBox="1"/>
          <p:nvPr/>
        </p:nvSpPr>
        <p:spPr>
          <a:xfrm>
            <a:off x="9145905" y="2476500"/>
            <a:ext cx="9142095" cy="78479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marL="323850" lvl="1" indent="0" algn="l">
              <a:lnSpc>
                <a:spcPts val="3600"/>
              </a:lnSpc>
              <a:buFont typeface="Arial" panose="020B0604020202020204"/>
              <a:buNone/>
            </a:pPr>
            <a:r>
              <a:rPr lang="en-US" b="1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Market Opportunity &amp; Growth</a:t>
            </a:r>
            <a:endParaRPr lang="en-US" b="1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609600" lvl="1" indent="-285750" algn="l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India AML Market: ~₹2,500 Cr (18% CAGR)</a:t>
            </a:r>
            <a:endParaRPr lang="en-US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609600" lvl="1" indent="-285750" algn="l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Global Market: $4.2B → $8.1B (by 2029)</a:t>
            </a:r>
            <a:endParaRPr lang="en-US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609600" lvl="1" indent="-285750" algn="l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Beachhead: PSBs + top private banks (~₹400–600 Cr)</a:t>
            </a:r>
            <a:endParaRPr lang="en-US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609600" lvl="1" indent="-285750" algn="l">
              <a:lnSpc>
                <a:spcPts val="3600"/>
              </a:lnSpc>
              <a:buFont typeface="Arial" panose="020B0604020202020204"/>
              <a:buNone/>
            </a:pPr>
            <a:r>
              <a:rPr lang="en-US" b="1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Roadmap:</a:t>
            </a:r>
            <a:endParaRPr lang="en-US" b="1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323850" lvl="1" indent="0" algn="l">
              <a:lnSpc>
                <a:spcPts val="3600"/>
              </a:lnSpc>
              <a:buFont typeface="Arial" panose="020B0604020202020204"/>
              <a:buNone/>
            </a:pPr>
            <a:r>
              <a:rPr lang="en-US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Pilot (0–6m) → PSB Expansion (6–18m) → Private Banks/NBFCs (18–36m) → Global (36m+)</a:t>
            </a:r>
            <a:endParaRPr lang="en-US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323850" lvl="1" indent="0" algn="l">
              <a:lnSpc>
                <a:spcPts val="3600"/>
              </a:lnSpc>
              <a:buFont typeface="Arial" panose="020B0604020202020204"/>
              <a:buNone/>
            </a:pPr>
            <a:r>
              <a:rPr lang="en-US" b="1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Go-to-Market Strategy</a:t>
            </a:r>
            <a:endParaRPr lang="en-US" b="1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609600" lvl="1" indent="-285750" algn="l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Free 3-month PSB pilot → prove ROI</a:t>
            </a:r>
            <a:endParaRPr lang="en-US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609600" lvl="1" indent="-285750" algn="l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Integrate with CBS (Finacle, Flexcube, BaNCS) via partners (TCS, Infosys)</a:t>
            </a:r>
            <a:endParaRPr lang="en-US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609600" lvl="1" indent="-285750" algn="l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Ensure FIU/RBI compliance + SOC2/ISO security</a:t>
            </a:r>
            <a:endParaRPr lang="en-US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609600" lvl="1" indent="-285750" algn="l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Deploy on India-compliant cloud / on-premise</a:t>
            </a:r>
            <a:endParaRPr lang="en-US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609600" lvl="1" indent="-285750" algn="l">
              <a:lnSpc>
                <a:spcPts val="3600"/>
              </a:lnSpc>
              <a:buFont typeface="Arial" panose="020B0604020202020204"/>
              <a:buNone/>
            </a:pPr>
            <a:r>
              <a:rPr lang="en-US" b="1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Key Challenges &amp; Strategy</a:t>
            </a:r>
            <a:endParaRPr lang="en-US" b="1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609600" lvl="1" indent="-285750" algn="l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Slow bank procurement: Pilot-led conversion</a:t>
            </a:r>
            <a:endParaRPr lang="en-US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609600" lvl="1" indent="-285750" algn="l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Legacy integration: Modular APIs + services</a:t>
            </a:r>
            <a:endParaRPr lang="en-US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609600" lvl="1" indent="-285750" algn="l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Strong competition: Differentiate via graph-first + explainability + lower cost</a:t>
            </a:r>
            <a:endParaRPr lang="en-US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0" y="0"/>
            <a:ext cx="18288000" cy="1697181"/>
            <a:chOff x="0" y="0"/>
            <a:chExt cx="4816593" cy="44699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446994"/>
            </a:xfrm>
            <a:custGeom>
              <a:avLst/>
              <a:gdLst/>
              <a:ahLst/>
              <a:cxnLst/>
              <a:rect l="l" t="t" r="r" b="b"/>
              <a:pathLst>
                <a:path w="4816592" h="446994">
                  <a:moveTo>
                    <a:pt x="0" y="0"/>
                  </a:moveTo>
                  <a:lnTo>
                    <a:pt x="4816592" y="0"/>
                  </a:lnTo>
                  <a:lnTo>
                    <a:pt x="4816592" y="446994"/>
                  </a:lnTo>
                  <a:lnTo>
                    <a:pt x="0" y="44699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4850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969852" y="588904"/>
            <a:ext cx="5022437" cy="749179"/>
            <a:chOff x="0" y="0"/>
            <a:chExt cx="6696583" cy="998906"/>
          </a:xfrm>
        </p:grpSpPr>
        <p:sp>
          <p:nvSpPr>
            <p:cNvPr id="7" name="Freeform 7" descr="A red blue and white logo  Description automatically generated"/>
            <p:cNvSpPr/>
            <p:nvPr/>
          </p:nvSpPr>
          <p:spPr>
            <a:xfrm>
              <a:off x="0" y="0"/>
              <a:ext cx="6696583" cy="998855"/>
            </a:xfrm>
            <a:custGeom>
              <a:avLst/>
              <a:gdLst/>
              <a:ahLst/>
              <a:cxnLst/>
              <a:rect l="l" t="t" r="r" b="b"/>
              <a:pathLst>
                <a:path w="6696583" h="998855">
                  <a:moveTo>
                    <a:pt x="0" y="0"/>
                  </a:moveTo>
                  <a:lnTo>
                    <a:pt x="6696583" y="0"/>
                  </a:lnTo>
                  <a:lnTo>
                    <a:pt x="6696583" y="998855"/>
                  </a:lnTo>
                  <a:lnTo>
                    <a:pt x="0" y="9988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b="-5"/>
              </a:stretch>
            </a:blipFill>
          </p:spPr>
        </p:sp>
      </p:grpSp>
      <p:sp>
        <p:nvSpPr>
          <p:cNvPr id="8" name="Freeform 8"/>
          <p:cNvSpPr/>
          <p:nvPr/>
        </p:nvSpPr>
        <p:spPr>
          <a:xfrm>
            <a:off x="3163313" y="523697"/>
            <a:ext cx="2690517" cy="879592"/>
          </a:xfrm>
          <a:custGeom>
            <a:avLst/>
            <a:gdLst/>
            <a:ahLst/>
            <a:cxnLst/>
            <a:rect l="l" t="t" r="r" b="b"/>
            <a:pathLst>
              <a:path w="2690517" h="879592">
                <a:moveTo>
                  <a:pt x="0" y="0"/>
                </a:moveTo>
                <a:lnTo>
                  <a:pt x="2690518" y="0"/>
                </a:lnTo>
                <a:lnTo>
                  <a:pt x="2690518" y="879593"/>
                </a:lnTo>
                <a:lnTo>
                  <a:pt x="0" y="8795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401479" y="281194"/>
            <a:ext cx="2445886" cy="1222943"/>
          </a:xfrm>
          <a:custGeom>
            <a:avLst/>
            <a:gdLst/>
            <a:ahLst/>
            <a:cxnLst/>
            <a:rect l="l" t="t" r="r" b="b"/>
            <a:pathLst>
              <a:path w="2445886" h="1222943">
                <a:moveTo>
                  <a:pt x="0" y="0"/>
                </a:moveTo>
                <a:lnTo>
                  <a:pt x="2445886" y="0"/>
                </a:lnTo>
                <a:lnTo>
                  <a:pt x="2445886" y="1222943"/>
                </a:lnTo>
                <a:lnTo>
                  <a:pt x="0" y="12229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6662574" y="122606"/>
            <a:ext cx="3497653" cy="1540119"/>
          </a:xfrm>
          <a:custGeom>
            <a:avLst/>
            <a:gdLst/>
            <a:ahLst/>
            <a:cxnLst/>
            <a:rect l="l" t="t" r="r" b="b"/>
            <a:pathLst>
              <a:path w="3497653" h="1540119">
                <a:moveTo>
                  <a:pt x="0" y="0"/>
                </a:moveTo>
                <a:lnTo>
                  <a:pt x="3497653" y="0"/>
                </a:lnTo>
                <a:lnTo>
                  <a:pt x="3497653" y="1540119"/>
                </a:lnTo>
                <a:lnTo>
                  <a:pt x="0" y="15401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6230" t="-89762" r="-26367" b="-156792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4571832" y="1790553"/>
            <a:ext cx="9116397" cy="81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u="sng">
                <a:solidFill>
                  <a:srgbClr val="4472C4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IMPACT &amp; BENEFITS</a:t>
            </a:r>
            <a:endParaRPr lang="en-US" sz="5400" u="sng">
              <a:solidFill>
                <a:srgbClr val="4472C4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12" name="Freeform 12"/>
          <p:cNvSpPr/>
          <p:nvPr/>
        </p:nvSpPr>
        <p:spPr>
          <a:xfrm>
            <a:off x="16739206" y="471221"/>
            <a:ext cx="1040189" cy="1032916"/>
          </a:xfrm>
          <a:custGeom>
            <a:avLst/>
            <a:gdLst/>
            <a:ahLst/>
            <a:cxnLst/>
            <a:rect l="l" t="t" r="r" b="b"/>
            <a:pathLst>
              <a:path w="1040189" h="1032916">
                <a:moveTo>
                  <a:pt x="0" y="0"/>
                </a:moveTo>
                <a:lnTo>
                  <a:pt x="1040188" y="0"/>
                </a:lnTo>
                <a:lnTo>
                  <a:pt x="1040188" y="1032916"/>
                </a:lnTo>
                <a:lnTo>
                  <a:pt x="0" y="103291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3633" t="-14434" r="-13983" b="-14081"/>
            </a:stretch>
          </a:blipFill>
        </p:spPr>
      </p:sp>
      <p:sp>
        <p:nvSpPr>
          <p:cNvPr id="13" name="TextBox 2"/>
          <p:cNvSpPr txBox="1"/>
          <p:nvPr/>
        </p:nvSpPr>
        <p:spPr>
          <a:xfrm>
            <a:off x="152400" y="2476500"/>
            <a:ext cx="10720705" cy="83102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marL="323850" lvl="1" indent="0" algn="l">
              <a:lnSpc>
                <a:spcPts val="3600"/>
              </a:lnSpc>
              <a:buFont typeface="Arial" panose="020B0604020202020204"/>
              <a:buNone/>
            </a:pPr>
            <a:r>
              <a:rPr lang="en-US" b="1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Impact on Target Audience </a:t>
            </a:r>
            <a:endParaRPr lang="en-US" b="1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666750" lvl="1" indent="-342900" algn="l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AML Investigators: Manual tracing (18–45 days) → click-to-trace in minutes; 3× fewer alerts with higher true positives and instant evidence generation</a:t>
            </a:r>
            <a:endParaRPr lang="en-US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666750" lvl="1" indent="-342900" algn="l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Chief Compliance Officers: Audit-ready AML with automated, FIU-compliant STR reports → reduced regulatory risk and penalties</a:t>
            </a:r>
            <a:endParaRPr lang="en-US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666750" lvl="1" indent="-342900" algn="l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Branch Managers: Real-time visibility into suspicious activity via branch-level and channel analytics</a:t>
            </a:r>
            <a:endParaRPr lang="en-US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666750" lvl="1" indent="-342900" algn="l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FIU-IND: Standardized, complete STR submissions with full fund trails, reducing back-and-forth queries</a:t>
            </a:r>
            <a:endParaRPr lang="en-US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666750" lvl="1" indent="-342900" algn="l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Law Enforcement (ED/CBI): Court-ready evidence packs with visual graphs and transaction trails for faster prosecution</a:t>
            </a:r>
            <a:endParaRPr lang="en-US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323850" lvl="1" indent="0" algn="l">
              <a:lnSpc>
                <a:spcPts val="3600"/>
              </a:lnSpc>
              <a:buFont typeface="Arial" panose="020B0604020202020204"/>
              <a:buNone/>
            </a:pPr>
            <a:r>
              <a:rPr lang="en-US" b="1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Economic Benefits</a:t>
            </a:r>
            <a:endParaRPr lang="en-US" b="1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666750" lvl="1" indent="-342900" algn="l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10× investigator productivity → same team handles significantly more cases</a:t>
            </a:r>
            <a:endParaRPr lang="en-US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666750" lvl="1" indent="-342900" algn="l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Up to ₹10 Cr/year savings by avoiding regulatory penalties</a:t>
            </a:r>
            <a:endParaRPr lang="en-US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666750" lvl="1" indent="-342900" algn="l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15–25% higher fraud detection → direct financial loss prevention</a:t>
            </a:r>
            <a:endParaRPr lang="en-US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666750" lvl="1" indent="-342900" algn="l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Reduced hiring needs → saves ₹50L–1Cr annually</a:t>
            </a:r>
            <a:endParaRPr lang="en-US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666750" lvl="1" indent="-342900" algn="l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STR generation time: days of manual work → seconds</a:t>
            </a:r>
            <a:endParaRPr lang="en-US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666750" lvl="1" indent="-342900" algn="l">
              <a:lnSpc>
                <a:spcPts val="3600"/>
              </a:lnSpc>
              <a:buFont typeface="Arial" panose="020B0604020202020204" pitchFamily="34" charset="0"/>
              <a:buChar char="•"/>
            </a:pPr>
            <a:endParaRPr lang="en-US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14" name="TextBox 2"/>
          <p:cNvSpPr txBox="1"/>
          <p:nvPr/>
        </p:nvSpPr>
        <p:spPr>
          <a:xfrm>
            <a:off x="10353675" y="2019300"/>
            <a:ext cx="7918450" cy="83102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marL="666750" lvl="1" indent="-342900" algn="l">
              <a:lnSpc>
                <a:spcPts val="3600"/>
              </a:lnSpc>
              <a:buFont typeface="Arial" panose="020B0604020202020204"/>
              <a:buNone/>
            </a:pPr>
            <a:endParaRPr lang="en-US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323850" lvl="1" indent="0" algn="l">
              <a:lnSpc>
                <a:spcPts val="3600"/>
              </a:lnSpc>
              <a:buFont typeface="Arial" panose="020B0604020202020204"/>
              <a:buNone/>
            </a:pPr>
            <a:r>
              <a:rPr lang="en-US" b="1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Social Impact</a:t>
            </a:r>
            <a:endParaRPr lang="en-US" b="1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666750" lvl="1" indent="-342900" algn="l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Identifies and protects mule account holders exploited by fraud networks</a:t>
            </a:r>
            <a:endParaRPr lang="en-US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666750" lvl="1" indent="-342900" algn="l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Strengthens detection of terror financing and illegal money flows</a:t>
            </a:r>
            <a:endParaRPr lang="en-US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666750" lvl="1" indent="-342900" algn="l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Improves public trust in banking systems, especially PSBs</a:t>
            </a:r>
            <a:endParaRPr lang="en-US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666750" lvl="1" indent="-342900" algn="l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Reduces workload on law enforcement agencies through ready evidence</a:t>
            </a:r>
            <a:endParaRPr lang="en-US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666750" lvl="1" indent="-342900" algn="l">
              <a:lnSpc>
                <a:spcPts val="3600"/>
              </a:lnSpc>
              <a:buFont typeface="Arial" panose="020B0604020202020204"/>
              <a:buNone/>
            </a:pPr>
            <a:endParaRPr lang="en-US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323850" lvl="1" indent="0" algn="l">
              <a:lnSpc>
                <a:spcPts val="3600"/>
              </a:lnSpc>
              <a:buFont typeface="Arial" panose="020B0604020202020204"/>
              <a:buNone/>
            </a:pPr>
            <a:r>
              <a:rPr lang="en-US" b="1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Regulatory &amp; Operational Benefits</a:t>
            </a:r>
            <a:endParaRPr lang="en-US" b="1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666750" lvl="1" indent="-342900" algn="l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Ensures compliance with PMLA, RBI AML/KYC norms, FATF standards, and DPDP Act</a:t>
            </a:r>
            <a:endParaRPr lang="en-US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666750" lvl="1" indent="-342900" algn="l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Provides real-time, end-to-end fund visibility across UPI, NEFT, RTGS, cash, ATM</a:t>
            </a:r>
            <a:endParaRPr lang="en-US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666750" lvl="1" indent="-342900" algn="l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Builds institutional intelligence by capturing fraud patterns systematically</a:t>
            </a:r>
            <a:endParaRPr lang="en-US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666750" lvl="1" indent="-342900" algn="l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Designed for scalability (NetworkX → Neo4j)</a:t>
            </a:r>
            <a:endParaRPr lang="en-US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79830" y="3116825"/>
            <a:ext cx="15928134" cy="5539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3600"/>
              </a:lnSpc>
              <a:buFont typeface="Arial" panose="020B0604020202020204"/>
              <a:buChar char="•"/>
            </a:pPr>
            <a:r>
              <a:rPr lang="en-US" sz="300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D1- Problem + Solution Brief: https://docs.google.com/document/d/1zA_kxNb4IB3dh24WB1JCLibrMLoYtO4TodRa3U2oi7I/edit?usp=sharing</a:t>
            </a:r>
            <a:endParaRPr lang="en-US" sz="3000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647700" lvl="1" indent="-323850" algn="l">
              <a:lnSpc>
                <a:spcPts val="3600"/>
              </a:lnSpc>
              <a:buFont typeface="Arial" panose="020B0604020202020204"/>
              <a:buChar char="•"/>
            </a:pPr>
            <a:r>
              <a:rPr lang="en-US" sz="300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D2- Deployed / Live URL: https://youtu.be/0luXt9s5efI</a:t>
            </a:r>
            <a:endParaRPr lang="en-US" sz="3000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647700" lvl="1" indent="-323850" algn="l">
              <a:lnSpc>
                <a:spcPts val="3600"/>
              </a:lnSpc>
              <a:buFont typeface="Arial" panose="020B0604020202020204"/>
              <a:buChar char="•"/>
            </a:pPr>
            <a:r>
              <a:rPr lang="en-US" sz="300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D2- Frontend-Backend Demonstration Video (YouTube):</a:t>
            </a:r>
            <a:endParaRPr lang="en-US" sz="3000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647700" lvl="1" indent="-323850" algn="l">
              <a:lnSpc>
                <a:spcPts val="3600"/>
              </a:lnSpc>
              <a:buFont typeface="Arial" panose="020B0604020202020204"/>
              <a:buChar char="•"/>
            </a:pPr>
            <a:r>
              <a:rPr lang="en-US" sz="300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D3- Technical Architecture Document: https://docs.google.com/document/d/1KwYOjYVl6_WBN3uyjc3WaM276vzI3bTbpiEsQZ-IZuU/edit?usp=sharingD4- GitHub Repository: https://github.com/VaideekaAgrawal/TraceX-FinTech</a:t>
            </a:r>
            <a:endParaRPr lang="en-US" sz="3000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647700" lvl="1" indent="-323850" algn="l">
              <a:lnSpc>
                <a:spcPts val="3600"/>
              </a:lnSpc>
              <a:buFont typeface="Arial" panose="020B0604020202020204"/>
              <a:buChar char="•"/>
            </a:pPr>
            <a:r>
              <a:rPr lang="en-US" sz="300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D5- Pitch Deck:</a:t>
            </a:r>
            <a:endParaRPr lang="en-US" sz="3000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647700" lvl="1" indent="-323850" algn="l">
              <a:lnSpc>
                <a:spcPts val="3600"/>
              </a:lnSpc>
              <a:buFont typeface="Arial" panose="020B0604020202020204"/>
              <a:buChar char="•"/>
            </a:pPr>
            <a:r>
              <a:rPr lang="en-US" sz="3000">
                <a:solidFill>
                  <a:srgbClr val="000000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D5- Pitch Video (YouTube): https://youtu.be/0luXt9s5efI</a:t>
            </a:r>
            <a:endParaRPr lang="en-US" sz="3000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l">
              <a:lnSpc>
                <a:spcPts val="3600"/>
              </a:lnSpc>
            </a:pPr>
            <a:endParaRPr lang="en-US" sz="3000">
              <a:solidFill>
                <a:srgbClr val="000000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697181"/>
            <a:chOff x="0" y="0"/>
            <a:chExt cx="4816593" cy="44699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446994"/>
            </a:xfrm>
            <a:custGeom>
              <a:avLst/>
              <a:gdLst/>
              <a:ahLst/>
              <a:cxnLst/>
              <a:rect l="l" t="t" r="r" b="b"/>
              <a:pathLst>
                <a:path w="4816592" h="446994">
                  <a:moveTo>
                    <a:pt x="0" y="0"/>
                  </a:moveTo>
                  <a:lnTo>
                    <a:pt x="4816592" y="0"/>
                  </a:lnTo>
                  <a:lnTo>
                    <a:pt x="4816592" y="446994"/>
                  </a:lnTo>
                  <a:lnTo>
                    <a:pt x="0" y="44699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4850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6" name="Freeform 6"/>
          <p:cNvSpPr/>
          <p:nvPr/>
        </p:nvSpPr>
        <p:spPr>
          <a:xfrm>
            <a:off x="6662574" y="122606"/>
            <a:ext cx="3497653" cy="1540119"/>
          </a:xfrm>
          <a:custGeom>
            <a:avLst/>
            <a:gdLst/>
            <a:ahLst/>
            <a:cxnLst/>
            <a:rect l="l" t="t" r="r" b="b"/>
            <a:pathLst>
              <a:path w="3497653" h="1540119">
                <a:moveTo>
                  <a:pt x="0" y="0"/>
                </a:moveTo>
                <a:lnTo>
                  <a:pt x="3497653" y="0"/>
                </a:lnTo>
                <a:lnTo>
                  <a:pt x="3497653" y="1540119"/>
                </a:lnTo>
                <a:lnTo>
                  <a:pt x="0" y="1540119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l="-26230" t="-89762" r="-26367" b="-156792"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0969852" y="588904"/>
            <a:ext cx="5022437" cy="749179"/>
            <a:chOff x="0" y="0"/>
            <a:chExt cx="6696583" cy="998906"/>
          </a:xfrm>
        </p:grpSpPr>
        <p:sp>
          <p:nvSpPr>
            <p:cNvPr id="8" name="Freeform 8" descr="A red blue and white logo  Description automatically generated"/>
            <p:cNvSpPr/>
            <p:nvPr/>
          </p:nvSpPr>
          <p:spPr>
            <a:xfrm>
              <a:off x="0" y="0"/>
              <a:ext cx="6696583" cy="998855"/>
            </a:xfrm>
            <a:custGeom>
              <a:avLst/>
              <a:gdLst/>
              <a:ahLst/>
              <a:cxnLst/>
              <a:rect l="l" t="t" r="r" b="b"/>
              <a:pathLst>
                <a:path w="6696583" h="998855">
                  <a:moveTo>
                    <a:pt x="0" y="0"/>
                  </a:moveTo>
                  <a:lnTo>
                    <a:pt x="6696583" y="0"/>
                  </a:lnTo>
                  <a:lnTo>
                    <a:pt x="6696583" y="998855"/>
                  </a:lnTo>
                  <a:lnTo>
                    <a:pt x="0" y="9988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5"/>
              </a:stretch>
            </a:blipFill>
          </p:spPr>
        </p:sp>
      </p:grpSp>
      <p:sp>
        <p:nvSpPr>
          <p:cNvPr id="9" name="Freeform 9"/>
          <p:cNvSpPr/>
          <p:nvPr/>
        </p:nvSpPr>
        <p:spPr>
          <a:xfrm>
            <a:off x="3163313" y="523697"/>
            <a:ext cx="2690517" cy="879592"/>
          </a:xfrm>
          <a:custGeom>
            <a:avLst/>
            <a:gdLst/>
            <a:ahLst/>
            <a:cxnLst/>
            <a:rect l="l" t="t" r="r" b="b"/>
            <a:pathLst>
              <a:path w="2690517" h="879592">
                <a:moveTo>
                  <a:pt x="0" y="0"/>
                </a:moveTo>
                <a:lnTo>
                  <a:pt x="2690518" y="0"/>
                </a:lnTo>
                <a:lnTo>
                  <a:pt x="2690518" y="879593"/>
                </a:lnTo>
                <a:lnTo>
                  <a:pt x="0" y="8795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401479" y="281194"/>
            <a:ext cx="2445886" cy="1222943"/>
          </a:xfrm>
          <a:custGeom>
            <a:avLst/>
            <a:gdLst/>
            <a:ahLst/>
            <a:cxnLst/>
            <a:rect l="l" t="t" r="r" b="b"/>
            <a:pathLst>
              <a:path w="2445886" h="1222943">
                <a:moveTo>
                  <a:pt x="0" y="0"/>
                </a:moveTo>
                <a:lnTo>
                  <a:pt x="2445886" y="0"/>
                </a:lnTo>
                <a:lnTo>
                  <a:pt x="2445886" y="1222943"/>
                </a:lnTo>
                <a:lnTo>
                  <a:pt x="0" y="12229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3932385" y="1974068"/>
            <a:ext cx="10423229" cy="830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u="sng">
                <a:solidFill>
                  <a:srgbClr val="4472C4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LINK TO ALL DELIVERABLES</a:t>
            </a:r>
            <a:endParaRPr lang="en-US" sz="5400" u="sng">
              <a:solidFill>
                <a:srgbClr val="4472C4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12" name="Freeform 12"/>
          <p:cNvSpPr/>
          <p:nvPr/>
        </p:nvSpPr>
        <p:spPr>
          <a:xfrm>
            <a:off x="16739206" y="471221"/>
            <a:ext cx="1040189" cy="1032916"/>
          </a:xfrm>
          <a:custGeom>
            <a:avLst/>
            <a:gdLst/>
            <a:ahLst/>
            <a:cxnLst/>
            <a:rect l="l" t="t" r="r" b="b"/>
            <a:pathLst>
              <a:path w="1040189" h="1032916">
                <a:moveTo>
                  <a:pt x="0" y="0"/>
                </a:moveTo>
                <a:lnTo>
                  <a:pt x="1040188" y="0"/>
                </a:lnTo>
                <a:lnTo>
                  <a:pt x="1040188" y="1032916"/>
                </a:lnTo>
                <a:lnTo>
                  <a:pt x="0" y="103291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3633" t="-14434" r="-13983" b="-14081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7592</Words>
  <Application>WPS Writer</Application>
  <PresentationFormat>Custom</PresentationFormat>
  <Paragraphs>225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4" baseType="lpstr">
      <vt:lpstr>Arial</vt:lpstr>
      <vt:lpstr>SimSun</vt:lpstr>
      <vt:lpstr>Wingdings</vt:lpstr>
      <vt:lpstr>Montserrat Bold</vt:lpstr>
      <vt:lpstr>League Spartan</vt:lpstr>
      <vt:lpstr>TT Interphases Mono</vt:lpstr>
      <vt:lpstr>Montserrat</vt:lpstr>
      <vt:lpstr>Arial</vt:lpstr>
      <vt:lpstr>Microsoft YaHei</vt:lpstr>
      <vt:lpstr>汉仪旗黑</vt:lpstr>
      <vt:lpstr>Arial Unicode MS</vt:lpstr>
      <vt:lpstr>Calibri</vt:lpstr>
      <vt:lpstr>Helvetica Neue</vt:lpstr>
      <vt:lpstr>宋体-简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IDEA TITLE</dc:title>
  <dc:creator/>
  <cp:lastModifiedBy>Vaideeka</cp:lastModifiedBy>
  <cp:revision>6</cp:revision>
  <dcterms:created xsi:type="dcterms:W3CDTF">2026-05-31T18:28:04Z</dcterms:created>
  <dcterms:modified xsi:type="dcterms:W3CDTF">2026-05-31T18:28:04Z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1033-5.7.3.8096</vt:lpwstr>
  </property>
</Properties>
</file>